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6256000" cy="9144000"/>
  <p:notesSz cx="9144000" cy="16256000"/>
  <p:embeddedFontLst>
    <p:embeddedFont>
      <p:font typeface="Liter" charset="-122" pitchFamily="34"/>
      <p:regular r:id="rId21"/>
    </p:embeddedFont>
    <p:embeddedFont>
      <p:font typeface="Quattrocento Sans" charset="-122" pitchFamily="34"/>
      <p:regular r:id="rId22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Relationship Id="rId21" Type="http://schemas.openxmlformats.org/officeDocument/2006/relationships/font" Target="fonts/font1.fntdata"/><Relationship Id="rId22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454iqn33ypamo/mnt/agents/output/carenest-engagement/images/5_Free_Modern_Hospital_Lobby_Image.png">    </p:cNvPr>
          <p:cNvPicPr>
            <a:picLocks noChangeAspect="1"/>
          </p:cNvPicPr>
          <p:nvPr/>
        </p:nvPicPr>
        <p:blipFill>
          <a:blip r:embed="rId1"/>
          <a:srcRect l="0" r="0" t="781" b="781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1B1F2A">
                  <a:alpha val="90000"/>
                </a:srgbClr>
              </a:gs>
              <a:gs pos="50000">
                <a:srgbClr val="1B1F2A">
                  <a:alpha val="70000"/>
                </a:srgbClr>
              </a:gs>
              <a:gs pos="100000">
                <a:srgbClr val="1B1F2A">
                  <a:alpha val="20000"/>
                </a:srgbClr>
              </a:gs>
            </a:gsLst>
            <a:lin ang="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1016000" y="3556000"/>
            <a:ext cx="762000" cy="38100"/>
          </a:xfrm>
          <a:prstGeom prst="rect">
            <a:avLst/>
          </a:prstGeom>
          <a:solidFill>
            <a:srgbClr val="B07D45"/>
          </a:solidFill>
          <a:ln/>
        </p:spPr>
      </p:sp>
      <p:sp>
        <p:nvSpPr>
          <p:cNvPr id="5" name="Text 2"/>
          <p:cNvSpPr/>
          <p:nvPr/>
        </p:nvSpPr>
        <p:spPr>
          <a:xfrm>
            <a:off x="1016000" y="3810000"/>
            <a:ext cx="8890000" cy="279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20000"/>
              </a:lnSpc>
            </a:pPr>
            <a:r>
              <a:rPr lang="en-US" sz="4800" spc="3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CARENEST</a:t>
            </a:r>
            <a:endParaRPr lang="en-US" sz="4800" dirty="0"/>
          </a:p>
          <a:p>
            <a:pPr>
              <a:lnSpc>
                <a:spcPct val="120000"/>
              </a:lnSpc>
            </a:pPr>
            <a:r>
              <a:rPr lang="en-US" sz="4800" spc="3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THREE PATHS TO</a:t>
            </a:r>
            <a:endParaRPr lang="en-US" sz="4800" dirty="0"/>
          </a:p>
          <a:p>
            <a:pPr>
              <a:lnSpc>
                <a:spcPct val="120000"/>
              </a:lnSpc>
            </a:pPr>
            <a:r>
              <a:rPr lang="en-US" sz="4800" spc="3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OPERATIONAL READINESS</a:t>
            </a:r>
            <a:endParaRPr lang="en-US" sz="4800" dirty="0"/>
          </a:p>
        </p:txBody>
      </p:sp>
      <p:sp>
        <p:nvSpPr>
          <p:cNvPr id="6" name="Text 3"/>
          <p:cNvSpPr/>
          <p:nvPr/>
        </p:nvSpPr>
        <p:spPr>
          <a:xfrm>
            <a:off x="1016000" y="6731000"/>
            <a:ext cx="762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spc="200" kern="0" dirty="0">
                <a:solidFill>
                  <a:srgbClr val="FFFFFF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ENGAGEMENT MODEL PROPOSAL FOR KENORCARE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016000" y="73025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FFFFFF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May 2026 | Version 1.0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016000" y="8382000"/>
            <a:ext cx="635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100" dirty="0">
                <a:solidFill>
                  <a:srgbClr val="FFFFFF">
                    <a:alpha val="4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Companion: carenest-tor.md | kenorcare-partnership-agreement.md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25400"/>
          </a:xfrm>
          <a:prstGeom prst="rect">
            <a:avLst/>
          </a:prstGeom>
          <a:solidFill>
            <a:srgbClr val="B07D45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698500"/>
            <a:ext cx="381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spc="300" kern="0" dirty="0">
                <a:solidFill>
                  <a:srgbClr val="B07D4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EXECUTIVE OVERVIEW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62000" y="1143000"/>
            <a:ext cx="5080000" cy="825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4800" spc="200" kern="0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CONTENTS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62000" y="2095500"/>
            <a:ext cx="635000" cy="38100"/>
          </a:xfrm>
          <a:prstGeom prst="rect">
            <a:avLst/>
          </a:prstGeom>
          <a:solidFill>
            <a:srgbClr val="B07D45"/>
          </a:solidFill>
          <a:ln/>
        </p:spPr>
      </p:sp>
      <p:sp>
        <p:nvSpPr>
          <p:cNvPr id="6" name="Text 4"/>
          <p:cNvSpPr/>
          <p:nvPr/>
        </p:nvSpPr>
        <p:spPr>
          <a:xfrm>
            <a:off x="762000" y="2349500"/>
            <a:ext cx="5334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Three engagement paths, compared in full — so KenorCare can decide on complete information.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112000" y="1524000"/>
            <a:ext cx="889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3600" dirty="0">
                <a:solidFill>
                  <a:srgbClr val="B07D4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128000" y="1549400"/>
            <a:ext cx="635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CARENEST AT A GLANCE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128000" y="1968500"/>
            <a:ext cx="635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Platform snapshot, functional domains, and technology stack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112000" y="2540000"/>
            <a:ext cx="8382000" cy="12700"/>
          </a:xfrm>
          <a:prstGeom prst="rect">
            <a:avLst/>
          </a:prstGeom>
          <a:solidFill>
            <a:srgbClr val="D5D0C8"/>
          </a:solidFill>
          <a:ln/>
        </p:spPr>
      </p:sp>
      <p:sp>
        <p:nvSpPr>
          <p:cNvPr id="11" name="Text 9"/>
          <p:cNvSpPr/>
          <p:nvPr/>
        </p:nvSpPr>
        <p:spPr>
          <a:xfrm>
            <a:off x="7112000" y="2921000"/>
            <a:ext cx="889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3600" dirty="0">
                <a:solidFill>
                  <a:srgbClr val="B07D4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128000" y="2946400"/>
            <a:ext cx="635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THREE ENGAGEMENT MODELS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128000" y="3365500"/>
            <a:ext cx="635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One-Off Build, Monthly Billing, and Strategic Partnership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112000" y="3937000"/>
            <a:ext cx="8382000" cy="12700"/>
          </a:xfrm>
          <a:prstGeom prst="rect">
            <a:avLst/>
          </a:prstGeom>
          <a:solidFill>
            <a:srgbClr val="D5D0C8"/>
          </a:solidFill>
          <a:ln/>
        </p:spPr>
      </p:sp>
      <p:sp>
        <p:nvSpPr>
          <p:cNvPr id="15" name="Text 13"/>
          <p:cNvSpPr/>
          <p:nvPr/>
        </p:nvSpPr>
        <p:spPr>
          <a:xfrm>
            <a:off x="7112000" y="4318000"/>
            <a:ext cx="889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3600" dirty="0">
                <a:solidFill>
                  <a:srgbClr val="B07D4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128000" y="4343400"/>
            <a:ext cx="635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COMPARISON &amp; RESPONSIBILITIES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128000" y="4762500"/>
            <a:ext cx="7112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Side-by-side analysis and responsibilities map across all models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112000" y="5334000"/>
            <a:ext cx="8382000" cy="12700"/>
          </a:xfrm>
          <a:prstGeom prst="rect">
            <a:avLst/>
          </a:prstGeom>
          <a:solidFill>
            <a:srgbClr val="D5D0C8"/>
          </a:solidFill>
          <a:ln/>
        </p:spPr>
      </p:sp>
      <p:sp>
        <p:nvSpPr>
          <p:cNvPr id="19" name="Text 17"/>
          <p:cNvSpPr/>
          <p:nvPr/>
        </p:nvSpPr>
        <p:spPr>
          <a:xfrm>
            <a:off x="7112000" y="5715000"/>
            <a:ext cx="889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3600" dirty="0">
                <a:solidFill>
                  <a:srgbClr val="B07D4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128000" y="5740400"/>
            <a:ext cx="635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TIMELINE &amp; RECOMMENDATION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128000" y="6159500"/>
            <a:ext cx="7112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4-month build plan and our recommended path forward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0" y="8890000"/>
            <a:ext cx="16256000" cy="254000"/>
          </a:xfrm>
          <a:prstGeom prst="rect">
            <a:avLst/>
          </a:prstGeom>
          <a:solidFill>
            <a:srgbClr val="2D3142"/>
          </a:solidFill>
          <a:ln/>
        </p:spPr>
      </p:sp>
      <p:sp>
        <p:nvSpPr>
          <p:cNvPr id="23" name="Shape 21"/>
          <p:cNvSpPr/>
          <p:nvPr/>
        </p:nvSpPr>
        <p:spPr>
          <a:xfrm>
            <a:off x="0" y="8890000"/>
            <a:ext cx="2540000" cy="254000"/>
          </a:xfrm>
          <a:prstGeom prst="rect">
            <a:avLst/>
          </a:prstGeom>
          <a:solidFill>
            <a:srgbClr val="B07D45"/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454iqn33ypamo/mnt/agents/output/carenest-engagement/images/1_Free_Modern_Building_Sunset_Image.png">    </p:cNvPr>
          <p:cNvPicPr>
            <a:picLocks noChangeAspect="1"/>
          </p:cNvPicPr>
          <p:nvPr/>
        </p:nvPicPr>
        <p:blipFill>
          <a:blip r:embed="rId1"/>
          <a:srcRect l="0" r="0" t="21875" b="21875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1B1F2A">
                  <a:alpha val="90000"/>
                </a:srgbClr>
              </a:gs>
              <a:gs pos="55000">
                <a:srgbClr val="1B1F2A">
                  <a:alpha val="80000"/>
                </a:srgbClr>
              </a:gs>
              <a:gs pos="100000">
                <a:srgbClr val="1B1F2A">
                  <a:alpha val="40000"/>
                </a:srgbClr>
              </a:gs>
            </a:gsLst>
            <a:lin ang="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1016000" y="2286000"/>
            <a:ext cx="3810000" cy="1778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12000" dirty="0">
                <a:solidFill>
                  <a:srgbClr val="B07D45">
                    <a:alpha val="25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12000" dirty="0"/>
          </a:p>
        </p:txBody>
      </p:sp>
      <p:sp>
        <p:nvSpPr>
          <p:cNvPr id="5" name="Shape 2"/>
          <p:cNvSpPr/>
          <p:nvPr/>
        </p:nvSpPr>
        <p:spPr>
          <a:xfrm>
            <a:off x="1016000" y="4318000"/>
            <a:ext cx="762000" cy="38100"/>
          </a:xfrm>
          <a:prstGeom prst="rect">
            <a:avLst/>
          </a:prstGeom>
          <a:solidFill>
            <a:srgbClr val="B07D45"/>
          </a:solidFill>
          <a:ln/>
        </p:spPr>
      </p:sp>
      <p:sp>
        <p:nvSpPr>
          <p:cNvPr id="6" name="Text 3"/>
          <p:cNvSpPr/>
          <p:nvPr/>
        </p:nvSpPr>
        <p:spPr>
          <a:xfrm>
            <a:off x="1016000" y="4572000"/>
            <a:ext cx="762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spc="2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CARENEST AT A GLANCE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1016000" y="5270500"/>
            <a:ext cx="762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FFFFFF">
                    <a:alpha val="6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Platform snapshot, functional domains, and technology stack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25400"/>
          </a:xfrm>
          <a:prstGeom prst="rect">
            <a:avLst/>
          </a:prstGeom>
          <a:solidFill>
            <a:srgbClr val="B07D45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3810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spc="200" kern="0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 UNIFIED PLATFORM FOR BEHAVIORAL HEALTH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952500"/>
            <a:ext cx="508000" cy="25400"/>
          </a:xfrm>
          <a:prstGeom prst="rect">
            <a:avLst/>
          </a:prstGeom>
          <a:solidFill>
            <a:srgbClr val="B07D45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143000"/>
            <a:ext cx="14732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B1F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Laravel 12 + Livewire 4 platform unifying resident records, clinical documentation, staffing, therapy, mentorship, and AI assistance into one role-based system.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62000" y="1905000"/>
            <a:ext cx="381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spc="200" kern="0" dirty="0">
                <a:solidFill>
                  <a:srgbClr val="B07D4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9 FUNCTIONAL DOMAINS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62000" y="23495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/>
            </a:pathLst>
          </a:custGeom>
          <a:solidFill>
            <a:srgbClr val="B07D45"/>
          </a:solidFill>
          <a:ln/>
        </p:spPr>
      </p:sp>
      <p:sp>
        <p:nvSpPr>
          <p:cNvPr id="8" name="Text 6"/>
          <p:cNvSpPr/>
          <p:nvPr/>
        </p:nvSpPr>
        <p:spPr>
          <a:xfrm>
            <a:off x="1117600" y="2311400"/>
            <a:ext cx="2921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300" b="1" dirty="0">
                <a:solidFill>
                  <a:srgbClr val="1B1F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Public Website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1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CMS, contact, chatbot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191000" y="23495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/>
            </a:pathLst>
          </a:custGeom>
          <a:solidFill>
            <a:srgbClr val="B07D45"/>
          </a:solidFill>
          <a:ln/>
        </p:spPr>
      </p:sp>
      <p:sp>
        <p:nvSpPr>
          <p:cNvPr id="10" name="Text 8"/>
          <p:cNvSpPr/>
          <p:nvPr/>
        </p:nvSpPr>
        <p:spPr>
          <a:xfrm>
            <a:off x="4546600" y="2311400"/>
            <a:ext cx="2921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300" b="1" dirty="0">
                <a:solidFill>
                  <a:srgbClr val="1B1F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User &amp; Role Admin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1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 roles, 21 permissions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604125" y="2349500"/>
            <a:ext cx="285750" cy="254000"/>
          </a:xfrm>
          <a:custGeom>
            <a:avLst/>
            <a:gdLst/>
            <a:ahLst/>
            <a:cxnLst/>
            <a:rect l="l" t="t" r="r" b="b"/>
            <a:pathLst>
              <a:path w="285750" h="254000">
                <a:moveTo>
                  <a:pt x="87313" y="0"/>
                </a:moveTo>
                <a:cubicBezTo>
                  <a:pt x="69800" y="0"/>
                  <a:pt x="55563" y="14238"/>
                  <a:pt x="55563" y="31750"/>
                </a:cubicBezTo>
                <a:lnTo>
                  <a:pt x="55563" y="55563"/>
                </a:lnTo>
                <a:lnTo>
                  <a:pt x="31750" y="55563"/>
                </a:lnTo>
                <a:cubicBezTo>
                  <a:pt x="14238" y="55563"/>
                  <a:pt x="0" y="69800"/>
                  <a:pt x="0" y="87313"/>
                </a:cubicBezTo>
                <a:lnTo>
                  <a:pt x="0" y="222250"/>
                </a:lnTo>
                <a:cubicBezTo>
                  <a:pt x="0" y="239762"/>
                  <a:pt x="14238" y="254000"/>
                  <a:pt x="31750" y="254000"/>
                </a:cubicBezTo>
                <a:lnTo>
                  <a:pt x="254000" y="254000"/>
                </a:lnTo>
                <a:cubicBezTo>
                  <a:pt x="271512" y="254000"/>
                  <a:pt x="285750" y="239762"/>
                  <a:pt x="285750" y="222250"/>
                </a:cubicBezTo>
                <a:lnTo>
                  <a:pt x="285750" y="87313"/>
                </a:lnTo>
                <a:cubicBezTo>
                  <a:pt x="285750" y="69800"/>
                  <a:pt x="271512" y="55563"/>
                  <a:pt x="254000" y="55563"/>
                </a:cubicBezTo>
                <a:lnTo>
                  <a:pt x="230188" y="55563"/>
                </a:lnTo>
                <a:lnTo>
                  <a:pt x="230188" y="31750"/>
                </a:lnTo>
                <a:cubicBezTo>
                  <a:pt x="230188" y="14238"/>
                  <a:pt x="215950" y="0"/>
                  <a:pt x="198438" y="0"/>
                </a:cubicBezTo>
                <a:lnTo>
                  <a:pt x="87313" y="0"/>
                </a:lnTo>
                <a:close/>
                <a:moveTo>
                  <a:pt x="79375" y="31750"/>
                </a:moveTo>
                <a:cubicBezTo>
                  <a:pt x="79375" y="27384"/>
                  <a:pt x="82947" y="23812"/>
                  <a:pt x="87313" y="23812"/>
                </a:cubicBezTo>
                <a:lnTo>
                  <a:pt x="198438" y="23812"/>
                </a:lnTo>
                <a:cubicBezTo>
                  <a:pt x="202803" y="23812"/>
                  <a:pt x="206375" y="27384"/>
                  <a:pt x="206375" y="31750"/>
                </a:cubicBezTo>
                <a:lnTo>
                  <a:pt x="206375" y="67469"/>
                </a:lnTo>
                <a:cubicBezTo>
                  <a:pt x="206375" y="74067"/>
                  <a:pt x="211683" y="79375"/>
                  <a:pt x="218281" y="79375"/>
                </a:cubicBezTo>
                <a:lnTo>
                  <a:pt x="254000" y="79375"/>
                </a:lnTo>
                <a:cubicBezTo>
                  <a:pt x="258366" y="79375"/>
                  <a:pt x="261937" y="82947"/>
                  <a:pt x="261937" y="87313"/>
                </a:cubicBezTo>
                <a:lnTo>
                  <a:pt x="261937" y="222250"/>
                </a:lnTo>
                <a:cubicBezTo>
                  <a:pt x="261937" y="226616"/>
                  <a:pt x="258366" y="230188"/>
                  <a:pt x="254000" y="230188"/>
                </a:cubicBezTo>
                <a:lnTo>
                  <a:pt x="166688" y="230188"/>
                </a:lnTo>
                <a:lnTo>
                  <a:pt x="166688" y="190500"/>
                </a:lnTo>
                <a:cubicBezTo>
                  <a:pt x="166688" y="181719"/>
                  <a:pt x="159593" y="174625"/>
                  <a:pt x="150813" y="174625"/>
                </a:cubicBezTo>
                <a:lnTo>
                  <a:pt x="134938" y="174625"/>
                </a:lnTo>
                <a:cubicBezTo>
                  <a:pt x="126157" y="174625"/>
                  <a:pt x="119063" y="181719"/>
                  <a:pt x="119063" y="190500"/>
                </a:cubicBezTo>
                <a:lnTo>
                  <a:pt x="119063" y="230188"/>
                </a:lnTo>
                <a:lnTo>
                  <a:pt x="31750" y="230188"/>
                </a:lnTo>
                <a:cubicBezTo>
                  <a:pt x="27384" y="230188"/>
                  <a:pt x="23812" y="226616"/>
                  <a:pt x="23812" y="222250"/>
                </a:cubicBezTo>
                <a:lnTo>
                  <a:pt x="23812" y="87313"/>
                </a:lnTo>
                <a:cubicBezTo>
                  <a:pt x="23812" y="82947"/>
                  <a:pt x="27384" y="79375"/>
                  <a:pt x="31750" y="79375"/>
                </a:cubicBezTo>
                <a:lnTo>
                  <a:pt x="67469" y="79375"/>
                </a:lnTo>
                <a:cubicBezTo>
                  <a:pt x="74067" y="79375"/>
                  <a:pt x="79375" y="74067"/>
                  <a:pt x="79375" y="67469"/>
                </a:cubicBezTo>
                <a:lnTo>
                  <a:pt x="79375" y="31750"/>
                </a:lnTo>
                <a:close/>
                <a:moveTo>
                  <a:pt x="55563" y="111125"/>
                </a:moveTo>
                <a:cubicBezTo>
                  <a:pt x="51197" y="111125"/>
                  <a:pt x="47625" y="114697"/>
                  <a:pt x="47625" y="119063"/>
                </a:cubicBezTo>
                <a:lnTo>
                  <a:pt x="47625" y="134938"/>
                </a:lnTo>
                <a:cubicBezTo>
                  <a:pt x="47625" y="139303"/>
                  <a:pt x="51197" y="142875"/>
                  <a:pt x="55563" y="142875"/>
                </a:cubicBezTo>
                <a:lnTo>
                  <a:pt x="71438" y="142875"/>
                </a:lnTo>
                <a:cubicBezTo>
                  <a:pt x="75803" y="142875"/>
                  <a:pt x="79375" y="139303"/>
                  <a:pt x="79375" y="134938"/>
                </a:cubicBezTo>
                <a:lnTo>
                  <a:pt x="79375" y="119063"/>
                </a:lnTo>
                <a:cubicBezTo>
                  <a:pt x="79375" y="114697"/>
                  <a:pt x="75803" y="111125"/>
                  <a:pt x="71438" y="111125"/>
                </a:cubicBezTo>
                <a:lnTo>
                  <a:pt x="55563" y="111125"/>
                </a:lnTo>
                <a:close/>
                <a:moveTo>
                  <a:pt x="47625" y="166688"/>
                </a:moveTo>
                <a:lnTo>
                  <a:pt x="47625" y="182563"/>
                </a:lnTo>
                <a:cubicBezTo>
                  <a:pt x="47625" y="186928"/>
                  <a:pt x="51197" y="190500"/>
                  <a:pt x="55563" y="190500"/>
                </a:cubicBezTo>
                <a:lnTo>
                  <a:pt x="71438" y="190500"/>
                </a:lnTo>
                <a:cubicBezTo>
                  <a:pt x="75803" y="190500"/>
                  <a:pt x="79375" y="186928"/>
                  <a:pt x="79375" y="182563"/>
                </a:cubicBezTo>
                <a:lnTo>
                  <a:pt x="79375" y="166688"/>
                </a:lnTo>
                <a:cubicBezTo>
                  <a:pt x="79375" y="162322"/>
                  <a:pt x="75803" y="158750"/>
                  <a:pt x="71438" y="158750"/>
                </a:cubicBezTo>
                <a:lnTo>
                  <a:pt x="55563" y="158750"/>
                </a:lnTo>
                <a:cubicBezTo>
                  <a:pt x="51197" y="158750"/>
                  <a:pt x="47625" y="162322"/>
                  <a:pt x="47625" y="166688"/>
                </a:cubicBezTo>
                <a:close/>
                <a:moveTo>
                  <a:pt x="206375" y="166688"/>
                </a:moveTo>
                <a:lnTo>
                  <a:pt x="206375" y="182563"/>
                </a:lnTo>
                <a:cubicBezTo>
                  <a:pt x="206375" y="186928"/>
                  <a:pt x="209947" y="190500"/>
                  <a:pt x="214313" y="190500"/>
                </a:cubicBezTo>
                <a:lnTo>
                  <a:pt x="230188" y="190500"/>
                </a:lnTo>
                <a:cubicBezTo>
                  <a:pt x="234553" y="190500"/>
                  <a:pt x="238125" y="186928"/>
                  <a:pt x="238125" y="182563"/>
                </a:cubicBezTo>
                <a:lnTo>
                  <a:pt x="238125" y="166688"/>
                </a:lnTo>
                <a:cubicBezTo>
                  <a:pt x="238125" y="162322"/>
                  <a:pt x="234553" y="158750"/>
                  <a:pt x="230188" y="158750"/>
                </a:cubicBezTo>
                <a:lnTo>
                  <a:pt x="214313" y="158750"/>
                </a:lnTo>
                <a:cubicBezTo>
                  <a:pt x="209947" y="158750"/>
                  <a:pt x="206375" y="162322"/>
                  <a:pt x="206375" y="166688"/>
                </a:cubicBezTo>
                <a:close/>
                <a:moveTo>
                  <a:pt x="214313" y="111125"/>
                </a:moveTo>
                <a:cubicBezTo>
                  <a:pt x="209947" y="111125"/>
                  <a:pt x="206375" y="114697"/>
                  <a:pt x="206375" y="119063"/>
                </a:cubicBezTo>
                <a:lnTo>
                  <a:pt x="206375" y="134938"/>
                </a:lnTo>
                <a:cubicBezTo>
                  <a:pt x="206375" y="139303"/>
                  <a:pt x="209947" y="142875"/>
                  <a:pt x="214313" y="142875"/>
                </a:cubicBezTo>
                <a:lnTo>
                  <a:pt x="230188" y="142875"/>
                </a:lnTo>
                <a:cubicBezTo>
                  <a:pt x="234553" y="142875"/>
                  <a:pt x="238125" y="139303"/>
                  <a:pt x="238125" y="134938"/>
                </a:cubicBezTo>
                <a:lnTo>
                  <a:pt x="238125" y="119063"/>
                </a:lnTo>
                <a:cubicBezTo>
                  <a:pt x="238125" y="114697"/>
                  <a:pt x="234553" y="111125"/>
                  <a:pt x="230188" y="111125"/>
                </a:cubicBezTo>
                <a:lnTo>
                  <a:pt x="214313" y="111125"/>
                </a:lnTo>
                <a:close/>
                <a:moveTo>
                  <a:pt x="130969" y="51594"/>
                </a:moveTo>
                <a:lnTo>
                  <a:pt x="130969" y="67469"/>
                </a:lnTo>
                <a:lnTo>
                  <a:pt x="115094" y="67469"/>
                </a:lnTo>
                <a:cubicBezTo>
                  <a:pt x="110728" y="67469"/>
                  <a:pt x="107156" y="71041"/>
                  <a:pt x="107156" y="75406"/>
                </a:cubicBezTo>
                <a:lnTo>
                  <a:pt x="107156" y="83344"/>
                </a:lnTo>
                <a:cubicBezTo>
                  <a:pt x="107156" y="87709"/>
                  <a:pt x="110728" y="91281"/>
                  <a:pt x="115094" y="91281"/>
                </a:cubicBezTo>
                <a:lnTo>
                  <a:pt x="130969" y="91281"/>
                </a:lnTo>
                <a:lnTo>
                  <a:pt x="130969" y="107156"/>
                </a:lnTo>
                <a:cubicBezTo>
                  <a:pt x="130969" y="111522"/>
                  <a:pt x="134541" y="115094"/>
                  <a:pt x="138906" y="115094"/>
                </a:cubicBezTo>
                <a:lnTo>
                  <a:pt x="146844" y="115094"/>
                </a:lnTo>
                <a:cubicBezTo>
                  <a:pt x="151209" y="115094"/>
                  <a:pt x="154781" y="111522"/>
                  <a:pt x="154781" y="107156"/>
                </a:cubicBezTo>
                <a:lnTo>
                  <a:pt x="154781" y="91281"/>
                </a:lnTo>
                <a:lnTo>
                  <a:pt x="170656" y="91281"/>
                </a:lnTo>
                <a:cubicBezTo>
                  <a:pt x="175022" y="91281"/>
                  <a:pt x="178594" y="87709"/>
                  <a:pt x="178594" y="83344"/>
                </a:cubicBezTo>
                <a:lnTo>
                  <a:pt x="178594" y="75406"/>
                </a:lnTo>
                <a:cubicBezTo>
                  <a:pt x="178594" y="71041"/>
                  <a:pt x="175022" y="67469"/>
                  <a:pt x="170656" y="67469"/>
                </a:cubicBezTo>
                <a:lnTo>
                  <a:pt x="154781" y="67469"/>
                </a:lnTo>
                <a:lnTo>
                  <a:pt x="154781" y="51594"/>
                </a:lnTo>
                <a:cubicBezTo>
                  <a:pt x="154781" y="47228"/>
                  <a:pt x="151209" y="43656"/>
                  <a:pt x="146844" y="43656"/>
                </a:cubicBezTo>
                <a:lnTo>
                  <a:pt x="138906" y="43656"/>
                </a:lnTo>
                <a:cubicBezTo>
                  <a:pt x="134541" y="43656"/>
                  <a:pt x="130969" y="47228"/>
                  <a:pt x="130969" y="51594"/>
                </a:cubicBezTo>
                <a:close/>
              </a:path>
            </a:pathLst>
          </a:custGeom>
          <a:solidFill>
            <a:srgbClr val="B07D45"/>
          </a:solidFill>
          <a:ln/>
        </p:spPr>
      </p:sp>
      <p:sp>
        <p:nvSpPr>
          <p:cNvPr id="12" name="Text 10"/>
          <p:cNvSpPr/>
          <p:nvPr/>
        </p:nvSpPr>
        <p:spPr>
          <a:xfrm>
            <a:off x="7975600" y="2311400"/>
            <a:ext cx="2921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300" b="1" dirty="0">
                <a:solidFill>
                  <a:srgbClr val="1B1F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Resident Management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1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Admission, discharge, records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1080750" y="2349500"/>
            <a:ext cx="190500" cy="254000"/>
          </a:xfrm>
          <a:custGeom>
            <a:avLst/>
            <a:gdLst/>
            <a:ahLst/>
            <a:cxnLst/>
            <a:rect l="l" t="t" r="r" b="b"/>
            <a:pathLst>
              <a:path w="190500" h="254000">
                <a:moveTo>
                  <a:pt x="115094" y="47625"/>
                </a:moveTo>
                <a:lnTo>
                  <a:pt x="75406" y="47625"/>
                </a:lnTo>
                <a:cubicBezTo>
                  <a:pt x="68808" y="47625"/>
                  <a:pt x="63500" y="42317"/>
                  <a:pt x="63500" y="35719"/>
                </a:cubicBezTo>
                <a:cubicBezTo>
                  <a:pt x="63500" y="29121"/>
                  <a:pt x="68808" y="23812"/>
                  <a:pt x="75406" y="23812"/>
                </a:cubicBezTo>
                <a:lnTo>
                  <a:pt x="115094" y="23812"/>
                </a:lnTo>
                <a:cubicBezTo>
                  <a:pt x="121692" y="23812"/>
                  <a:pt x="127000" y="29121"/>
                  <a:pt x="127000" y="35719"/>
                </a:cubicBezTo>
                <a:cubicBezTo>
                  <a:pt x="127000" y="42317"/>
                  <a:pt x="121692" y="47625"/>
                  <a:pt x="115094" y="47625"/>
                </a:cubicBezTo>
                <a:close/>
                <a:moveTo>
                  <a:pt x="115094" y="71438"/>
                </a:moveTo>
                <a:cubicBezTo>
                  <a:pt x="133499" y="71438"/>
                  <a:pt x="148630" y="57547"/>
                  <a:pt x="150614" y="39688"/>
                </a:cubicBezTo>
                <a:lnTo>
                  <a:pt x="158750" y="39688"/>
                </a:lnTo>
                <a:cubicBezTo>
                  <a:pt x="163116" y="39688"/>
                  <a:pt x="166688" y="43259"/>
                  <a:pt x="166688" y="47625"/>
                </a:cubicBezTo>
                <a:lnTo>
                  <a:pt x="166688" y="222250"/>
                </a:lnTo>
                <a:cubicBezTo>
                  <a:pt x="166688" y="226616"/>
                  <a:pt x="163116" y="230188"/>
                  <a:pt x="158750" y="230188"/>
                </a:cubicBezTo>
                <a:lnTo>
                  <a:pt x="31750" y="230188"/>
                </a:lnTo>
                <a:cubicBezTo>
                  <a:pt x="27384" y="230188"/>
                  <a:pt x="23812" y="226616"/>
                  <a:pt x="23812" y="222250"/>
                </a:cubicBezTo>
                <a:lnTo>
                  <a:pt x="23812" y="47625"/>
                </a:lnTo>
                <a:cubicBezTo>
                  <a:pt x="23812" y="43259"/>
                  <a:pt x="27384" y="39688"/>
                  <a:pt x="31750" y="39688"/>
                </a:cubicBezTo>
                <a:lnTo>
                  <a:pt x="39886" y="39688"/>
                </a:lnTo>
                <a:cubicBezTo>
                  <a:pt x="41870" y="57547"/>
                  <a:pt x="57001" y="71438"/>
                  <a:pt x="75406" y="71438"/>
                </a:cubicBezTo>
                <a:lnTo>
                  <a:pt x="115094" y="71438"/>
                </a:lnTo>
                <a:close/>
                <a:moveTo>
                  <a:pt x="144810" y="15875"/>
                </a:moveTo>
                <a:cubicBezTo>
                  <a:pt x="138410" y="6300"/>
                  <a:pt x="127496" y="0"/>
                  <a:pt x="115094" y="0"/>
                </a:cubicBezTo>
                <a:lnTo>
                  <a:pt x="75406" y="0"/>
                </a:lnTo>
                <a:cubicBezTo>
                  <a:pt x="63004" y="0"/>
                  <a:pt x="52090" y="6300"/>
                  <a:pt x="45690" y="15875"/>
                </a:cubicBezTo>
                <a:lnTo>
                  <a:pt x="31750" y="15875"/>
                </a:lnTo>
                <a:cubicBezTo>
                  <a:pt x="14238" y="15875"/>
                  <a:pt x="0" y="30113"/>
                  <a:pt x="0" y="47625"/>
                </a:cubicBezTo>
                <a:lnTo>
                  <a:pt x="0" y="222250"/>
                </a:lnTo>
                <a:cubicBezTo>
                  <a:pt x="0" y="239762"/>
                  <a:pt x="14238" y="254000"/>
                  <a:pt x="31750" y="254000"/>
                </a:cubicBezTo>
                <a:lnTo>
                  <a:pt x="158750" y="254000"/>
                </a:lnTo>
                <a:cubicBezTo>
                  <a:pt x="176262" y="254000"/>
                  <a:pt x="190500" y="239762"/>
                  <a:pt x="190500" y="222250"/>
                </a:cubicBezTo>
                <a:lnTo>
                  <a:pt x="190500" y="47625"/>
                </a:lnTo>
                <a:cubicBezTo>
                  <a:pt x="190500" y="30113"/>
                  <a:pt x="176262" y="15875"/>
                  <a:pt x="158750" y="15875"/>
                </a:cubicBezTo>
                <a:lnTo>
                  <a:pt x="144810" y="15875"/>
                </a:lnTo>
                <a:close/>
              </a:path>
            </a:pathLst>
          </a:custGeom>
          <a:solidFill>
            <a:srgbClr val="B07D45"/>
          </a:solidFill>
          <a:ln/>
        </p:spPr>
      </p:sp>
      <p:sp>
        <p:nvSpPr>
          <p:cNvPr id="14" name="Text 12"/>
          <p:cNvSpPr/>
          <p:nvPr/>
        </p:nvSpPr>
        <p:spPr>
          <a:xfrm>
            <a:off x="11404600" y="2311400"/>
            <a:ext cx="2921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300" b="1" dirty="0">
                <a:solidFill>
                  <a:srgbClr val="1B1F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Care Planning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1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Care plans, ADL, shift notes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62000" y="31115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/>
            </a:pathLst>
          </a:custGeom>
          <a:solidFill>
            <a:srgbClr val="B07D45"/>
          </a:solidFill>
          <a:ln/>
        </p:spPr>
      </p:sp>
      <p:sp>
        <p:nvSpPr>
          <p:cNvPr id="16" name="Text 14"/>
          <p:cNvSpPr/>
          <p:nvPr/>
        </p:nvSpPr>
        <p:spPr>
          <a:xfrm>
            <a:off x="1117600" y="3073400"/>
            <a:ext cx="2921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300" b="1" dirty="0">
                <a:solidFill>
                  <a:srgbClr val="1B1F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Clinical Documentation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1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Meds, vitals, incidents, 12+ forms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206875" y="3111500"/>
            <a:ext cx="222250" cy="254000"/>
          </a:xfrm>
          <a:custGeom>
            <a:avLst/>
            <a:gdLst/>
            <a:ahLst/>
            <a:cxnLst/>
            <a:rect l="l" t="t" r="r" b="b"/>
            <a:pathLst>
              <a:path w="222250" h="254000">
                <a:moveTo>
                  <a:pt x="59531" y="0"/>
                </a:moveTo>
                <a:cubicBezTo>
                  <a:pt x="66129" y="0"/>
                  <a:pt x="71438" y="5308"/>
                  <a:pt x="71438" y="11906"/>
                </a:cubicBezTo>
                <a:lnTo>
                  <a:pt x="71438" y="31750"/>
                </a:lnTo>
                <a:lnTo>
                  <a:pt x="150813" y="31750"/>
                </a:lnTo>
                <a:lnTo>
                  <a:pt x="150813" y="11906"/>
                </a:lnTo>
                <a:cubicBezTo>
                  <a:pt x="150813" y="5308"/>
                  <a:pt x="156121" y="0"/>
                  <a:pt x="162719" y="0"/>
                </a:cubicBezTo>
                <a:cubicBezTo>
                  <a:pt x="169317" y="0"/>
                  <a:pt x="174625" y="5308"/>
                  <a:pt x="174625" y="11906"/>
                </a:cubicBezTo>
                <a:lnTo>
                  <a:pt x="174625" y="31750"/>
                </a:lnTo>
                <a:lnTo>
                  <a:pt x="190500" y="31750"/>
                </a:lnTo>
                <a:cubicBezTo>
                  <a:pt x="208012" y="31750"/>
                  <a:pt x="222250" y="45988"/>
                  <a:pt x="222250" y="63500"/>
                </a:cubicBezTo>
                <a:lnTo>
                  <a:pt x="222250" y="206375"/>
                </a:lnTo>
                <a:cubicBezTo>
                  <a:pt x="222250" y="223887"/>
                  <a:pt x="208012" y="238125"/>
                  <a:pt x="190500" y="238125"/>
                </a:cubicBezTo>
                <a:lnTo>
                  <a:pt x="31750" y="238125"/>
                </a:lnTo>
                <a:cubicBezTo>
                  <a:pt x="14238" y="238125"/>
                  <a:pt x="0" y="223887"/>
                  <a:pt x="0" y="206375"/>
                </a:cubicBezTo>
                <a:lnTo>
                  <a:pt x="0" y="63500"/>
                </a:lnTo>
                <a:cubicBezTo>
                  <a:pt x="0" y="45988"/>
                  <a:pt x="14238" y="31750"/>
                  <a:pt x="31750" y="31750"/>
                </a:cubicBezTo>
                <a:lnTo>
                  <a:pt x="47625" y="31750"/>
                </a:lnTo>
                <a:lnTo>
                  <a:pt x="47625" y="11906"/>
                </a:lnTo>
                <a:cubicBezTo>
                  <a:pt x="47625" y="5308"/>
                  <a:pt x="52933" y="0"/>
                  <a:pt x="59531" y="0"/>
                </a:cubicBezTo>
                <a:close/>
                <a:moveTo>
                  <a:pt x="59531" y="55563"/>
                </a:moveTo>
                <a:lnTo>
                  <a:pt x="31750" y="55563"/>
                </a:lnTo>
                <a:cubicBezTo>
                  <a:pt x="27384" y="55563"/>
                  <a:pt x="23812" y="59134"/>
                  <a:pt x="23812" y="63500"/>
                </a:cubicBezTo>
                <a:lnTo>
                  <a:pt x="23812" y="206375"/>
                </a:lnTo>
                <a:cubicBezTo>
                  <a:pt x="23812" y="210741"/>
                  <a:pt x="27384" y="214313"/>
                  <a:pt x="31750" y="214313"/>
                </a:cubicBezTo>
                <a:lnTo>
                  <a:pt x="190500" y="214313"/>
                </a:lnTo>
                <a:cubicBezTo>
                  <a:pt x="194866" y="214313"/>
                  <a:pt x="198438" y="210741"/>
                  <a:pt x="198438" y="206375"/>
                </a:cubicBezTo>
                <a:lnTo>
                  <a:pt x="198438" y="63500"/>
                </a:lnTo>
                <a:cubicBezTo>
                  <a:pt x="198438" y="59134"/>
                  <a:pt x="194866" y="55563"/>
                  <a:pt x="190500" y="55563"/>
                </a:cubicBezTo>
                <a:lnTo>
                  <a:pt x="59531" y="55563"/>
                </a:lnTo>
                <a:close/>
                <a:moveTo>
                  <a:pt x="152995" y="113457"/>
                </a:moveTo>
                <a:lnTo>
                  <a:pt x="113308" y="176957"/>
                </a:lnTo>
                <a:cubicBezTo>
                  <a:pt x="111224" y="180280"/>
                  <a:pt x="107652" y="182364"/>
                  <a:pt x="103733" y="182563"/>
                </a:cubicBezTo>
                <a:cubicBezTo>
                  <a:pt x="99814" y="182761"/>
                  <a:pt x="96044" y="180975"/>
                  <a:pt x="93712" y="177800"/>
                </a:cubicBezTo>
                <a:lnTo>
                  <a:pt x="69900" y="146050"/>
                </a:lnTo>
                <a:cubicBezTo>
                  <a:pt x="65931" y="140791"/>
                  <a:pt x="67022" y="133350"/>
                  <a:pt x="72281" y="129381"/>
                </a:cubicBezTo>
                <a:cubicBezTo>
                  <a:pt x="77539" y="125412"/>
                  <a:pt x="84981" y="126504"/>
                  <a:pt x="88950" y="131763"/>
                </a:cubicBezTo>
                <a:lnTo>
                  <a:pt x="102344" y="149622"/>
                </a:lnTo>
                <a:lnTo>
                  <a:pt x="132804" y="100856"/>
                </a:lnTo>
                <a:cubicBezTo>
                  <a:pt x="136277" y="95300"/>
                  <a:pt x="143619" y="93563"/>
                  <a:pt x="149225" y="97086"/>
                </a:cubicBezTo>
                <a:cubicBezTo>
                  <a:pt x="154831" y="100608"/>
                  <a:pt x="156518" y="107900"/>
                  <a:pt x="152995" y="113506"/>
                </a:cubicBezTo>
                <a:close/>
              </a:path>
            </a:pathLst>
          </a:custGeom>
          <a:solidFill>
            <a:srgbClr val="B07D45"/>
          </a:solidFill>
          <a:ln/>
        </p:spPr>
      </p:sp>
      <p:sp>
        <p:nvSpPr>
          <p:cNvPr id="18" name="Text 16"/>
          <p:cNvSpPr/>
          <p:nvPr/>
        </p:nvSpPr>
        <p:spPr>
          <a:xfrm>
            <a:off x="4546600" y="3073400"/>
            <a:ext cx="2921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300" b="1" dirty="0">
                <a:solidFill>
                  <a:srgbClr val="1B1F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Staff &amp; Scheduling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1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Directory, qualifications, shifts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604125" y="3111500"/>
            <a:ext cx="285750" cy="254000"/>
          </a:xfrm>
          <a:custGeom>
            <a:avLst/>
            <a:gdLst/>
            <a:ahLst/>
            <a:cxnLst/>
            <a:rect l="l" t="t" r="r" b="b"/>
            <a:pathLst>
              <a:path w="285750" h="254000">
                <a:moveTo>
                  <a:pt x="37802" y="128339"/>
                </a:moveTo>
                <a:cubicBezTo>
                  <a:pt x="40829" y="120799"/>
                  <a:pt x="39787" y="112167"/>
                  <a:pt x="35024" y="105569"/>
                </a:cubicBezTo>
                <a:cubicBezTo>
                  <a:pt x="27831" y="95597"/>
                  <a:pt x="23813" y="83889"/>
                  <a:pt x="23813" y="71438"/>
                </a:cubicBezTo>
                <a:cubicBezTo>
                  <a:pt x="23813" y="38298"/>
                  <a:pt x="53826" y="7938"/>
                  <a:pt x="95250" y="7938"/>
                </a:cubicBezTo>
                <a:cubicBezTo>
                  <a:pt x="136674" y="7938"/>
                  <a:pt x="166688" y="38298"/>
                  <a:pt x="166688" y="71438"/>
                </a:cubicBezTo>
                <a:cubicBezTo>
                  <a:pt x="166688" y="104577"/>
                  <a:pt x="136674" y="134938"/>
                  <a:pt x="95250" y="134938"/>
                </a:cubicBezTo>
                <a:cubicBezTo>
                  <a:pt x="87362" y="134938"/>
                  <a:pt x="79821" y="133796"/>
                  <a:pt x="72777" y="131713"/>
                </a:cubicBezTo>
                <a:cubicBezTo>
                  <a:pt x="67667" y="130175"/>
                  <a:pt x="62161" y="130473"/>
                  <a:pt x="57200" y="132457"/>
                </a:cubicBezTo>
                <a:lnTo>
                  <a:pt x="32196" y="142478"/>
                </a:lnTo>
                <a:lnTo>
                  <a:pt x="37852" y="128339"/>
                </a:lnTo>
                <a:close/>
                <a:moveTo>
                  <a:pt x="0" y="71438"/>
                </a:moveTo>
                <a:cubicBezTo>
                  <a:pt x="0" y="89198"/>
                  <a:pt x="5755" y="105718"/>
                  <a:pt x="15726" y="119459"/>
                </a:cubicBezTo>
                <a:lnTo>
                  <a:pt x="943" y="156369"/>
                </a:lnTo>
                <a:cubicBezTo>
                  <a:pt x="298" y="157956"/>
                  <a:pt x="0" y="159643"/>
                  <a:pt x="0" y="161330"/>
                </a:cubicBezTo>
                <a:cubicBezTo>
                  <a:pt x="0" y="168672"/>
                  <a:pt x="5953" y="174625"/>
                  <a:pt x="13295" y="174625"/>
                </a:cubicBezTo>
                <a:cubicBezTo>
                  <a:pt x="14982" y="174625"/>
                  <a:pt x="16669" y="174278"/>
                  <a:pt x="18256" y="173682"/>
                </a:cubicBezTo>
                <a:lnTo>
                  <a:pt x="66030" y="154583"/>
                </a:lnTo>
                <a:cubicBezTo>
                  <a:pt x="75257" y="157311"/>
                  <a:pt x="85080" y="158750"/>
                  <a:pt x="95250" y="158750"/>
                </a:cubicBezTo>
                <a:cubicBezTo>
                  <a:pt x="147836" y="158750"/>
                  <a:pt x="190500" y="119658"/>
                  <a:pt x="190500" y="71438"/>
                </a:cubicBezTo>
                <a:cubicBezTo>
                  <a:pt x="190500" y="23217"/>
                  <a:pt x="147836" y="-15875"/>
                  <a:pt x="95250" y="-15875"/>
                </a:cubicBezTo>
                <a:cubicBezTo>
                  <a:pt x="42664" y="-15875"/>
                  <a:pt x="0" y="23217"/>
                  <a:pt x="0" y="71438"/>
                </a:cubicBezTo>
                <a:close/>
                <a:moveTo>
                  <a:pt x="190500" y="254000"/>
                </a:moveTo>
                <a:cubicBezTo>
                  <a:pt x="200720" y="254000"/>
                  <a:pt x="210493" y="252512"/>
                  <a:pt x="219720" y="249833"/>
                </a:cubicBezTo>
                <a:lnTo>
                  <a:pt x="267494" y="268932"/>
                </a:lnTo>
                <a:cubicBezTo>
                  <a:pt x="269081" y="269577"/>
                  <a:pt x="270768" y="269875"/>
                  <a:pt x="272455" y="269875"/>
                </a:cubicBezTo>
                <a:cubicBezTo>
                  <a:pt x="279797" y="269875"/>
                  <a:pt x="285750" y="263922"/>
                  <a:pt x="285750" y="256580"/>
                </a:cubicBezTo>
                <a:cubicBezTo>
                  <a:pt x="285750" y="254893"/>
                  <a:pt x="285403" y="253206"/>
                  <a:pt x="284807" y="251619"/>
                </a:cubicBezTo>
                <a:lnTo>
                  <a:pt x="270073" y="214709"/>
                </a:lnTo>
                <a:cubicBezTo>
                  <a:pt x="279995" y="200918"/>
                  <a:pt x="285800" y="184398"/>
                  <a:pt x="285800" y="166688"/>
                </a:cubicBezTo>
                <a:cubicBezTo>
                  <a:pt x="285800" y="125809"/>
                  <a:pt x="255191" y="91529"/>
                  <a:pt x="213866" y="82004"/>
                </a:cubicBezTo>
                <a:cubicBezTo>
                  <a:pt x="213072" y="90091"/>
                  <a:pt x="211336" y="97830"/>
                  <a:pt x="208855" y="105271"/>
                </a:cubicBezTo>
                <a:cubicBezTo>
                  <a:pt x="240556" y="112613"/>
                  <a:pt x="262037" y="138658"/>
                  <a:pt x="262037" y="166737"/>
                </a:cubicBezTo>
                <a:cubicBezTo>
                  <a:pt x="262037" y="179189"/>
                  <a:pt x="258018" y="190897"/>
                  <a:pt x="250825" y="200868"/>
                </a:cubicBezTo>
                <a:cubicBezTo>
                  <a:pt x="246062" y="207466"/>
                  <a:pt x="245021" y="216049"/>
                  <a:pt x="248047" y="223639"/>
                </a:cubicBezTo>
                <a:lnTo>
                  <a:pt x="253702" y="237778"/>
                </a:lnTo>
                <a:lnTo>
                  <a:pt x="228699" y="227757"/>
                </a:lnTo>
                <a:cubicBezTo>
                  <a:pt x="223738" y="225772"/>
                  <a:pt x="218232" y="225524"/>
                  <a:pt x="213122" y="227013"/>
                </a:cubicBezTo>
                <a:cubicBezTo>
                  <a:pt x="206077" y="229096"/>
                  <a:pt x="198537" y="230237"/>
                  <a:pt x="190649" y="230237"/>
                </a:cubicBezTo>
                <a:cubicBezTo>
                  <a:pt x="154831" y="230237"/>
                  <a:pt x="127595" y="207566"/>
                  <a:pt x="120848" y="180032"/>
                </a:cubicBezTo>
                <a:cubicBezTo>
                  <a:pt x="113109" y="181620"/>
                  <a:pt x="105122" y="182513"/>
                  <a:pt x="96986" y="182612"/>
                </a:cubicBezTo>
                <a:cubicBezTo>
                  <a:pt x="105122" y="223242"/>
                  <a:pt x="143966" y="254050"/>
                  <a:pt x="190649" y="254050"/>
                </a:cubicBezTo>
                <a:close/>
              </a:path>
            </a:pathLst>
          </a:custGeom>
          <a:solidFill>
            <a:srgbClr val="B07D45"/>
          </a:solidFill>
          <a:ln/>
        </p:spPr>
      </p:sp>
      <p:sp>
        <p:nvSpPr>
          <p:cNvPr id="20" name="Text 18"/>
          <p:cNvSpPr/>
          <p:nvPr/>
        </p:nvSpPr>
        <p:spPr>
          <a:xfrm>
            <a:off x="7975600" y="3073400"/>
            <a:ext cx="2921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300" b="1" dirty="0">
                <a:solidFill>
                  <a:srgbClr val="1B1F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Therapy &amp; Mentorship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1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Sessions, lessons, AI mentor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1049000" y="31115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23812" y="27781"/>
                </a:moveTo>
                <a:cubicBezTo>
                  <a:pt x="23812" y="21183"/>
                  <a:pt x="18504" y="15875"/>
                  <a:pt x="11906" y="15875"/>
                </a:cubicBezTo>
                <a:cubicBezTo>
                  <a:pt x="5308" y="15875"/>
                  <a:pt x="0" y="21183"/>
                  <a:pt x="0" y="27781"/>
                </a:cubicBezTo>
                <a:lnTo>
                  <a:pt x="0" y="198438"/>
                </a:lnTo>
                <a:cubicBezTo>
                  <a:pt x="0" y="220365"/>
                  <a:pt x="17760" y="238125"/>
                  <a:pt x="39688" y="238125"/>
                </a:cubicBezTo>
                <a:lnTo>
                  <a:pt x="242094" y="238125"/>
                </a:lnTo>
                <a:cubicBezTo>
                  <a:pt x="248692" y="238125"/>
                  <a:pt x="254000" y="232817"/>
                  <a:pt x="254000" y="226219"/>
                </a:cubicBezTo>
                <a:cubicBezTo>
                  <a:pt x="254000" y="219621"/>
                  <a:pt x="248692" y="214313"/>
                  <a:pt x="242094" y="214313"/>
                </a:cubicBezTo>
                <a:lnTo>
                  <a:pt x="39688" y="214313"/>
                </a:lnTo>
                <a:cubicBezTo>
                  <a:pt x="30907" y="214313"/>
                  <a:pt x="23812" y="207218"/>
                  <a:pt x="23812" y="198438"/>
                </a:cubicBezTo>
                <a:lnTo>
                  <a:pt x="23812" y="27781"/>
                </a:lnTo>
                <a:close/>
                <a:moveTo>
                  <a:pt x="75406" y="63500"/>
                </a:moveTo>
                <a:lnTo>
                  <a:pt x="178594" y="63500"/>
                </a:lnTo>
                <a:cubicBezTo>
                  <a:pt x="185192" y="63500"/>
                  <a:pt x="190500" y="58192"/>
                  <a:pt x="190500" y="51594"/>
                </a:cubicBezTo>
                <a:cubicBezTo>
                  <a:pt x="190500" y="44996"/>
                  <a:pt x="185192" y="39688"/>
                  <a:pt x="178594" y="39688"/>
                </a:cubicBezTo>
                <a:lnTo>
                  <a:pt x="75406" y="39688"/>
                </a:lnTo>
                <a:cubicBezTo>
                  <a:pt x="68808" y="39688"/>
                  <a:pt x="63500" y="44996"/>
                  <a:pt x="63500" y="51594"/>
                </a:cubicBezTo>
                <a:cubicBezTo>
                  <a:pt x="63500" y="58192"/>
                  <a:pt x="68808" y="63500"/>
                  <a:pt x="75406" y="63500"/>
                </a:cubicBezTo>
                <a:close/>
                <a:moveTo>
                  <a:pt x="75406" y="95250"/>
                </a:moveTo>
                <a:cubicBezTo>
                  <a:pt x="68808" y="95250"/>
                  <a:pt x="63500" y="100558"/>
                  <a:pt x="63500" y="107156"/>
                </a:cubicBezTo>
                <a:cubicBezTo>
                  <a:pt x="63500" y="113754"/>
                  <a:pt x="68808" y="119063"/>
                  <a:pt x="75406" y="119063"/>
                </a:cubicBezTo>
                <a:lnTo>
                  <a:pt x="146844" y="119063"/>
                </a:lnTo>
                <a:cubicBezTo>
                  <a:pt x="153442" y="119063"/>
                  <a:pt x="158750" y="113754"/>
                  <a:pt x="158750" y="107156"/>
                </a:cubicBezTo>
                <a:cubicBezTo>
                  <a:pt x="158750" y="100558"/>
                  <a:pt x="153442" y="95250"/>
                  <a:pt x="146844" y="95250"/>
                </a:cubicBezTo>
                <a:lnTo>
                  <a:pt x="75406" y="95250"/>
                </a:lnTo>
                <a:close/>
                <a:moveTo>
                  <a:pt x="75406" y="150813"/>
                </a:moveTo>
                <a:cubicBezTo>
                  <a:pt x="68808" y="150813"/>
                  <a:pt x="63500" y="156121"/>
                  <a:pt x="63500" y="162719"/>
                </a:cubicBezTo>
                <a:cubicBezTo>
                  <a:pt x="63500" y="169317"/>
                  <a:pt x="68808" y="174625"/>
                  <a:pt x="75406" y="174625"/>
                </a:cubicBezTo>
                <a:lnTo>
                  <a:pt x="210344" y="174625"/>
                </a:lnTo>
                <a:cubicBezTo>
                  <a:pt x="216942" y="174625"/>
                  <a:pt x="222250" y="169317"/>
                  <a:pt x="222250" y="162719"/>
                </a:cubicBezTo>
                <a:cubicBezTo>
                  <a:pt x="222250" y="156121"/>
                  <a:pt x="216942" y="150813"/>
                  <a:pt x="210344" y="150813"/>
                </a:cubicBezTo>
                <a:lnTo>
                  <a:pt x="75406" y="150813"/>
                </a:lnTo>
                <a:close/>
              </a:path>
            </a:pathLst>
          </a:custGeom>
          <a:solidFill>
            <a:srgbClr val="B07D45"/>
          </a:solidFill>
          <a:ln/>
        </p:spPr>
      </p:sp>
      <p:sp>
        <p:nvSpPr>
          <p:cNvPr id="22" name="Text 20"/>
          <p:cNvSpPr/>
          <p:nvPr/>
        </p:nvSpPr>
        <p:spPr>
          <a:xfrm>
            <a:off x="11404600" y="3073400"/>
            <a:ext cx="2921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300" b="1" dirty="0">
                <a:solidFill>
                  <a:srgbClr val="1B1F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Reporting &amp; Exports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1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PDF/Word clinical exports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762000" y="38735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/>
            </a:pathLst>
          </a:custGeom>
          <a:solidFill>
            <a:srgbClr val="B07D45"/>
          </a:solidFill>
          <a:ln/>
        </p:spPr>
      </p:sp>
      <p:sp>
        <p:nvSpPr>
          <p:cNvPr id="24" name="Text 22"/>
          <p:cNvSpPr/>
          <p:nvPr/>
        </p:nvSpPr>
        <p:spPr>
          <a:xfrm>
            <a:off x="1117600" y="3835400"/>
            <a:ext cx="2921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300" b="1" dirty="0">
                <a:solidFill>
                  <a:srgbClr val="1B1F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AI-Assisted Capabilities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1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Groq + Gemini, configurable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762000" y="4635500"/>
            <a:ext cx="14732000" cy="12700"/>
          </a:xfrm>
          <a:prstGeom prst="rect">
            <a:avLst/>
          </a:prstGeom>
          <a:solidFill>
            <a:srgbClr val="D5D0C8"/>
          </a:solidFill>
          <a:ln/>
        </p:spPr>
      </p:sp>
      <p:sp>
        <p:nvSpPr>
          <p:cNvPr id="26" name="Text 24"/>
          <p:cNvSpPr/>
          <p:nvPr/>
        </p:nvSpPr>
        <p:spPr>
          <a:xfrm>
            <a:off x="762000" y="4826000"/>
            <a:ext cx="254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spc="200" kern="0" dirty="0">
                <a:solidFill>
                  <a:srgbClr val="B07D4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TECH STACK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62000" y="5181600"/>
            <a:ext cx="14732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dirty="0">
                <a:solidFill>
                  <a:srgbClr val="1B1F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PHP 8.2</a:t>
            </a:r>
            <a:pPr>
              <a:lnSpc>
                <a:spcPct val="100000"/>
              </a:lnSpc>
            </a:pPr>
            <a:r>
              <a:rPr lang="en-US" sz="1400" dirty="0">
                <a:solidFill>
                  <a:srgbClr val="1B1F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· Laravel 12 · Livewire 4 · Flux UI · Tailwind 4 · Spatie Permissions · DOMPDF · PHPWord · Groq + Google Gemini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762000" y="5715000"/>
            <a:ext cx="14732000" cy="12700"/>
          </a:xfrm>
          <a:prstGeom prst="rect">
            <a:avLst/>
          </a:prstGeom>
          <a:solidFill>
            <a:srgbClr val="D5D0C8"/>
          </a:solidFill>
          <a:ln/>
        </p:spPr>
      </p:sp>
      <p:sp>
        <p:nvSpPr>
          <p:cNvPr id="29" name="Text 27"/>
          <p:cNvSpPr/>
          <p:nvPr/>
        </p:nvSpPr>
        <p:spPr>
          <a:xfrm>
            <a:off x="762000" y="5905500"/>
            <a:ext cx="254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spc="200" kern="0" dirty="0">
                <a:solidFill>
                  <a:srgbClr val="B07D4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BY THE NUMBERS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762000" y="6324600"/>
            <a:ext cx="2159000" cy="1270000"/>
          </a:xfrm>
          <a:prstGeom prst="rect">
            <a:avLst/>
          </a:prstGeom>
          <a:solidFill>
            <a:srgbClr val="EDEAE4"/>
          </a:solidFill>
          <a:ln/>
        </p:spPr>
      </p:sp>
      <p:sp>
        <p:nvSpPr>
          <p:cNvPr id="31" name="Text 29"/>
          <p:cNvSpPr/>
          <p:nvPr/>
        </p:nvSpPr>
        <p:spPr>
          <a:xfrm>
            <a:off x="762000" y="6413500"/>
            <a:ext cx="2159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000" dirty="0">
                <a:solidFill>
                  <a:srgbClr val="B07D4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28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762000" y="7048500"/>
            <a:ext cx="2159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Eloquent Models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3175000" y="6324600"/>
            <a:ext cx="2159000" cy="1270000"/>
          </a:xfrm>
          <a:prstGeom prst="rect">
            <a:avLst/>
          </a:prstGeom>
          <a:solidFill>
            <a:srgbClr val="EDEAE4"/>
          </a:solidFill>
          <a:ln/>
        </p:spPr>
      </p:sp>
      <p:sp>
        <p:nvSpPr>
          <p:cNvPr id="34" name="Text 32"/>
          <p:cNvSpPr/>
          <p:nvPr/>
        </p:nvSpPr>
        <p:spPr>
          <a:xfrm>
            <a:off x="3175000" y="6413500"/>
            <a:ext cx="2159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000" dirty="0">
                <a:solidFill>
                  <a:srgbClr val="B07D4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9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3175000" y="7048500"/>
            <a:ext cx="2159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Functional Domains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5588000" y="6324600"/>
            <a:ext cx="2159000" cy="1270000"/>
          </a:xfrm>
          <a:prstGeom prst="rect">
            <a:avLst/>
          </a:prstGeom>
          <a:solidFill>
            <a:srgbClr val="EDEAE4"/>
          </a:solidFill>
          <a:ln/>
        </p:spPr>
      </p:sp>
      <p:sp>
        <p:nvSpPr>
          <p:cNvPr id="37" name="Text 35"/>
          <p:cNvSpPr/>
          <p:nvPr/>
        </p:nvSpPr>
        <p:spPr>
          <a:xfrm>
            <a:off x="5588000" y="6413500"/>
            <a:ext cx="2159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000" dirty="0">
                <a:solidFill>
                  <a:srgbClr val="B07D4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5588000" y="7048500"/>
            <a:ext cx="2159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Roles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8001000" y="6324600"/>
            <a:ext cx="2159000" cy="1270000"/>
          </a:xfrm>
          <a:prstGeom prst="rect">
            <a:avLst/>
          </a:prstGeom>
          <a:solidFill>
            <a:srgbClr val="EDEAE4"/>
          </a:solidFill>
          <a:ln/>
        </p:spPr>
      </p:sp>
      <p:sp>
        <p:nvSpPr>
          <p:cNvPr id="40" name="Text 38"/>
          <p:cNvSpPr/>
          <p:nvPr/>
        </p:nvSpPr>
        <p:spPr>
          <a:xfrm>
            <a:off x="8001000" y="6413500"/>
            <a:ext cx="2159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000" dirty="0">
                <a:solidFill>
                  <a:srgbClr val="B07D4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21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8001000" y="7048500"/>
            <a:ext cx="2159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Permissions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10414000" y="6324600"/>
            <a:ext cx="2159000" cy="1270000"/>
          </a:xfrm>
          <a:prstGeom prst="rect">
            <a:avLst/>
          </a:prstGeom>
          <a:solidFill>
            <a:srgbClr val="EDEAE4"/>
          </a:solidFill>
          <a:ln/>
        </p:spPr>
      </p:sp>
      <p:sp>
        <p:nvSpPr>
          <p:cNvPr id="43" name="Text 41"/>
          <p:cNvSpPr/>
          <p:nvPr/>
        </p:nvSpPr>
        <p:spPr>
          <a:xfrm>
            <a:off x="10414000" y="6413500"/>
            <a:ext cx="2159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000" dirty="0">
                <a:solidFill>
                  <a:srgbClr val="B07D4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10414000" y="7048500"/>
            <a:ext cx="2159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 Providers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12827000" y="6324600"/>
            <a:ext cx="2159000" cy="1270000"/>
          </a:xfrm>
          <a:prstGeom prst="rect">
            <a:avLst/>
          </a:prstGeom>
          <a:solidFill>
            <a:srgbClr val="EDEAE4"/>
          </a:solidFill>
          <a:ln/>
        </p:spPr>
      </p:sp>
      <p:sp>
        <p:nvSpPr>
          <p:cNvPr id="46" name="Text 44"/>
          <p:cNvSpPr/>
          <p:nvPr/>
        </p:nvSpPr>
        <p:spPr>
          <a:xfrm>
            <a:off x="12827000" y="6413500"/>
            <a:ext cx="2159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000" dirty="0">
                <a:solidFill>
                  <a:srgbClr val="B07D4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18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12827000" y="7048500"/>
            <a:ext cx="2159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Validation Domains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0" y="8890000"/>
            <a:ext cx="16256000" cy="254000"/>
          </a:xfrm>
          <a:prstGeom prst="rect">
            <a:avLst/>
          </a:prstGeom>
          <a:solidFill>
            <a:srgbClr val="2D3142"/>
          </a:solidFill>
          <a:ln/>
        </p:spPr>
      </p:sp>
      <p:sp>
        <p:nvSpPr>
          <p:cNvPr id="49" name="Text 47"/>
          <p:cNvSpPr/>
          <p:nvPr/>
        </p:nvSpPr>
        <p:spPr>
          <a:xfrm>
            <a:off x="13716000" y="8940800"/>
            <a:ext cx="2159000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000" spc="100" kern="0" dirty="0">
                <a:solidFill>
                  <a:srgbClr val="FFFFFF">
                    <a:alpha val="53333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CARENEST OVERVIEW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454iqn33ypamo/mnt/agents/output/carenest-engagement/images/6_The_Benefits_of_Natural_Light_in.png">    </p:cNvPr>
          <p:cNvPicPr>
            <a:picLocks noChangeAspect="1"/>
          </p:cNvPicPr>
          <p:nvPr/>
        </p:nvPicPr>
        <p:blipFill>
          <a:blip r:embed="rId1"/>
          <a:srcRect l="0" r="0" t="31257" b="31257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1B1F2A">
                  <a:alpha val="90000"/>
                </a:srgbClr>
              </a:gs>
              <a:gs pos="55000">
                <a:srgbClr val="1B1F2A">
                  <a:alpha val="80000"/>
                </a:srgbClr>
              </a:gs>
              <a:gs pos="100000">
                <a:srgbClr val="1B1F2A">
                  <a:alpha val="40000"/>
                </a:srgbClr>
              </a:gs>
            </a:gsLst>
            <a:lin ang="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1016000" y="2286000"/>
            <a:ext cx="3810000" cy="1778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12000" dirty="0">
                <a:solidFill>
                  <a:srgbClr val="B07D45">
                    <a:alpha val="25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2000" dirty="0"/>
          </a:p>
        </p:txBody>
      </p:sp>
      <p:sp>
        <p:nvSpPr>
          <p:cNvPr id="5" name="Shape 2"/>
          <p:cNvSpPr/>
          <p:nvPr/>
        </p:nvSpPr>
        <p:spPr>
          <a:xfrm>
            <a:off x="1016000" y="4318000"/>
            <a:ext cx="762000" cy="38100"/>
          </a:xfrm>
          <a:prstGeom prst="rect">
            <a:avLst/>
          </a:prstGeom>
          <a:solidFill>
            <a:srgbClr val="B07D45"/>
          </a:solidFill>
          <a:ln/>
        </p:spPr>
      </p:sp>
      <p:sp>
        <p:nvSpPr>
          <p:cNvPr id="6" name="Text 3"/>
          <p:cNvSpPr/>
          <p:nvPr/>
        </p:nvSpPr>
        <p:spPr>
          <a:xfrm>
            <a:off x="1016000" y="4572000"/>
            <a:ext cx="889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spc="2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THREE ENGAGEMENT MODELS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1016000" y="5270500"/>
            <a:ext cx="889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FFFFFF">
                    <a:alpha val="6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One-Off Build, Monthly Billing, and Strategic Partnership — compared in full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25400"/>
          </a:xfrm>
          <a:prstGeom prst="rect">
            <a:avLst/>
          </a:prstGeom>
          <a:solidFill>
            <a:srgbClr val="B07D45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3810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spc="200" kern="0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THREE WAYS TO ENGAGE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952500"/>
            <a:ext cx="508000" cy="25400"/>
          </a:xfrm>
          <a:prstGeom prst="rect">
            <a:avLst/>
          </a:prstGeom>
          <a:solidFill>
            <a:srgbClr val="B07D45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270000"/>
            <a:ext cx="4572000" cy="5588000"/>
          </a:xfrm>
          <a:prstGeom prst="rect">
            <a:avLst/>
          </a:prstGeom>
          <a:solidFill>
            <a:srgbClr val="EDEAE4"/>
          </a:solidFill>
          <a:ln/>
        </p:spPr>
      </p:sp>
      <p:sp>
        <p:nvSpPr>
          <p:cNvPr id="6" name="Shape 4"/>
          <p:cNvSpPr/>
          <p:nvPr/>
        </p:nvSpPr>
        <p:spPr>
          <a:xfrm>
            <a:off x="1035050" y="1524000"/>
            <a:ext cx="444500" cy="355600"/>
          </a:xfrm>
          <a:custGeom>
            <a:avLst/>
            <a:gdLst/>
            <a:ahLst/>
            <a:cxnLst/>
            <a:rect l="l" t="t" r="r" b="b"/>
            <a:pathLst>
              <a:path w="444500" h="355600">
                <a:moveTo>
                  <a:pt x="171480" y="12710"/>
                </a:moveTo>
                <a:lnTo>
                  <a:pt x="188218" y="2639"/>
                </a:lnTo>
                <a:cubicBezTo>
                  <a:pt x="203220" y="-6390"/>
                  <a:pt x="220375" y="-11112"/>
                  <a:pt x="237877" y="-11112"/>
                </a:cubicBezTo>
                <a:cubicBezTo>
                  <a:pt x="263436" y="-11112"/>
                  <a:pt x="288022" y="-972"/>
                  <a:pt x="306080" y="17155"/>
                </a:cubicBezTo>
                <a:lnTo>
                  <a:pt x="350460" y="61535"/>
                </a:lnTo>
                <a:cubicBezTo>
                  <a:pt x="360878" y="71953"/>
                  <a:pt x="366712" y="86122"/>
                  <a:pt x="366712" y="100846"/>
                </a:cubicBezTo>
                <a:lnTo>
                  <a:pt x="366712" y="122307"/>
                </a:lnTo>
                <a:lnTo>
                  <a:pt x="380395" y="135989"/>
                </a:lnTo>
                <a:lnTo>
                  <a:pt x="380395" y="135989"/>
                </a:lnTo>
                <a:cubicBezTo>
                  <a:pt x="391229" y="125155"/>
                  <a:pt x="408801" y="125155"/>
                  <a:pt x="419705" y="135989"/>
                </a:cubicBezTo>
                <a:cubicBezTo>
                  <a:pt x="430609" y="146824"/>
                  <a:pt x="430540" y="164396"/>
                  <a:pt x="419705" y="175300"/>
                </a:cubicBezTo>
                <a:lnTo>
                  <a:pt x="375255" y="219750"/>
                </a:lnTo>
                <a:cubicBezTo>
                  <a:pt x="364421" y="230584"/>
                  <a:pt x="346849" y="230584"/>
                  <a:pt x="335945" y="219750"/>
                </a:cubicBezTo>
                <a:cubicBezTo>
                  <a:pt x="325041" y="208915"/>
                  <a:pt x="325110" y="191343"/>
                  <a:pt x="335945" y="180439"/>
                </a:cubicBezTo>
                <a:lnTo>
                  <a:pt x="322263" y="166688"/>
                </a:lnTo>
                <a:lnTo>
                  <a:pt x="300801" y="166688"/>
                </a:lnTo>
                <a:cubicBezTo>
                  <a:pt x="286077" y="166688"/>
                  <a:pt x="271909" y="160853"/>
                  <a:pt x="261491" y="150435"/>
                </a:cubicBezTo>
                <a:lnTo>
                  <a:pt x="227390" y="116334"/>
                </a:lnTo>
                <a:cubicBezTo>
                  <a:pt x="216972" y="105916"/>
                  <a:pt x="211138" y="91748"/>
                  <a:pt x="211138" y="77024"/>
                </a:cubicBezTo>
                <a:lnTo>
                  <a:pt x="211138" y="68203"/>
                </a:lnTo>
                <a:cubicBezTo>
                  <a:pt x="211138" y="60424"/>
                  <a:pt x="207040" y="53132"/>
                  <a:pt x="200372" y="49173"/>
                </a:cubicBezTo>
                <a:lnTo>
                  <a:pt x="171480" y="31810"/>
                </a:lnTo>
                <a:cubicBezTo>
                  <a:pt x="164257" y="27503"/>
                  <a:pt x="164257" y="17085"/>
                  <a:pt x="171480" y="12779"/>
                </a:cubicBezTo>
                <a:close/>
                <a:moveTo>
                  <a:pt x="35213" y="279688"/>
                </a:moveTo>
                <a:lnTo>
                  <a:pt x="189468" y="125432"/>
                </a:lnTo>
                <a:lnTo>
                  <a:pt x="252323" y="188287"/>
                </a:lnTo>
                <a:lnTo>
                  <a:pt x="98068" y="342543"/>
                </a:lnTo>
                <a:cubicBezTo>
                  <a:pt x="80705" y="359906"/>
                  <a:pt x="52576" y="359906"/>
                  <a:pt x="35213" y="342543"/>
                </a:cubicBezTo>
                <a:cubicBezTo>
                  <a:pt x="17849" y="325180"/>
                  <a:pt x="17849" y="297051"/>
                  <a:pt x="35213" y="279688"/>
                </a:cubicBezTo>
                <a:close/>
              </a:path>
            </a:pathLst>
          </a:custGeom>
          <a:solidFill>
            <a:srgbClr val="2D3142"/>
          </a:solidFill>
          <a:ln/>
        </p:spPr>
      </p:sp>
      <p:sp>
        <p:nvSpPr>
          <p:cNvPr id="7" name="Text 5"/>
          <p:cNvSpPr/>
          <p:nvPr/>
        </p:nvSpPr>
        <p:spPr>
          <a:xfrm>
            <a:off x="1079500" y="2032000"/>
            <a:ext cx="3937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ONE-OFF BUILD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79500" y="2476500"/>
            <a:ext cx="3937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B07D4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$55K – $75K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79500" y="3048000"/>
            <a:ext cx="3937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B1F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Pay once, own the codebase forever. Full TOR scope delivered as a fixed-price project with milestone payments.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79500" y="4064000"/>
            <a:ext cx="3937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300" b="1" dirty="0">
                <a:solidFill>
                  <a:srgbClr val="B07D4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Best when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1B1F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KenorCare wants full ownership and control of the platform.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79500" y="4889500"/>
            <a:ext cx="3937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300" b="1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Risk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1B1F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Highest upfront cash outlay; all ongoing costs borne by KenorCare.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79500" y="5715000"/>
            <a:ext cx="18415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100" spc="100" kern="0" dirty="0">
                <a:solidFill>
                  <a:srgbClr val="8D99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FULL OWNERSHIP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715000" y="1270000"/>
            <a:ext cx="4572000" cy="5588000"/>
          </a:xfrm>
          <a:prstGeom prst="rect">
            <a:avLst/>
          </a:prstGeom>
          <a:solidFill>
            <a:srgbClr val="EDEAE4"/>
          </a:solidFill>
          <a:ln/>
        </p:spPr>
      </p:sp>
      <p:sp>
        <p:nvSpPr>
          <p:cNvPr id="14" name="Shape 12"/>
          <p:cNvSpPr/>
          <p:nvPr/>
        </p:nvSpPr>
        <p:spPr>
          <a:xfrm>
            <a:off x="6054725" y="1524000"/>
            <a:ext cx="311150" cy="355600"/>
          </a:xfrm>
          <a:custGeom>
            <a:avLst/>
            <a:gdLst/>
            <a:ahLst/>
            <a:cxnLst/>
            <a:rect l="l" t="t" r="r" b="b"/>
            <a:pathLst>
              <a:path w="311150" h="355600">
                <a:moveTo>
                  <a:pt x="88900" y="0"/>
                </a:moveTo>
                <a:cubicBezTo>
                  <a:pt x="101193" y="0"/>
                  <a:pt x="111125" y="9932"/>
                  <a:pt x="111125" y="22225"/>
                </a:cubicBezTo>
                <a:lnTo>
                  <a:pt x="111125" y="44450"/>
                </a:lnTo>
                <a:lnTo>
                  <a:pt x="200025" y="44450"/>
                </a:lnTo>
                <a:lnTo>
                  <a:pt x="200025" y="22225"/>
                </a:lnTo>
                <a:cubicBezTo>
                  <a:pt x="200025" y="9932"/>
                  <a:pt x="209957" y="0"/>
                  <a:pt x="222250" y="0"/>
                </a:cubicBezTo>
                <a:cubicBezTo>
                  <a:pt x="234543" y="0"/>
                  <a:pt x="244475" y="9932"/>
                  <a:pt x="244475" y="22225"/>
                </a:cubicBezTo>
                <a:lnTo>
                  <a:pt x="244475" y="44450"/>
                </a:lnTo>
                <a:lnTo>
                  <a:pt x="266700" y="44450"/>
                </a:lnTo>
                <a:cubicBezTo>
                  <a:pt x="291217" y="44450"/>
                  <a:pt x="311150" y="64383"/>
                  <a:pt x="311150" y="88900"/>
                </a:cubicBezTo>
                <a:lnTo>
                  <a:pt x="311150" y="288925"/>
                </a:lnTo>
                <a:cubicBezTo>
                  <a:pt x="311150" y="313442"/>
                  <a:pt x="291217" y="333375"/>
                  <a:pt x="266700" y="333375"/>
                </a:cubicBezTo>
                <a:lnTo>
                  <a:pt x="44450" y="333375"/>
                </a:lnTo>
                <a:cubicBezTo>
                  <a:pt x="19933" y="333375"/>
                  <a:pt x="0" y="313442"/>
                  <a:pt x="0" y="288925"/>
                </a:cubicBezTo>
                <a:lnTo>
                  <a:pt x="0" y="88900"/>
                </a:lnTo>
                <a:cubicBezTo>
                  <a:pt x="0" y="64383"/>
                  <a:pt x="19933" y="44450"/>
                  <a:pt x="44450" y="44450"/>
                </a:cubicBezTo>
                <a:lnTo>
                  <a:pt x="66675" y="44450"/>
                </a:lnTo>
                <a:lnTo>
                  <a:pt x="66675" y="22225"/>
                </a:lnTo>
                <a:cubicBezTo>
                  <a:pt x="66675" y="9932"/>
                  <a:pt x="76607" y="0"/>
                  <a:pt x="88900" y="0"/>
                </a:cubicBezTo>
                <a:close/>
                <a:moveTo>
                  <a:pt x="44450" y="166688"/>
                </a:moveTo>
                <a:lnTo>
                  <a:pt x="44450" y="188913"/>
                </a:lnTo>
                <a:cubicBezTo>
                  <a:pt x="44450" y="195024"/>
                  <a:pt x="49451" y="200025"/>
                  <a:pt x="55563" y="200025"/>
                </a:cubicBezTo>
                <a:lnTo>
                  <a:pt x="77788" y="200025"/>
                </a:lnTo>
                <a:cubicBezTo>
                  <a:pt x="83899" y="200025"/>
                  <a:pt x="88900" y="195024"/>
                  <a:pt x="88900" y="188913"/>
                </a:cubicBezTo>
                <a:lnTo>
                  <a:pt x="88900" y="166688"/>
                </a:lnTo>
                <a:cubicBezTo>
                  <a:pt x="88900" y="160576"/>
                  <a:pt x="83899" y="155575"/>
                  <a:pt x="77788" y="155575"/>
                </a:cubicBezTo>
                <a:lnTo>
                  <a:pt x="55563" y="155575"/>
                </a:lnTo>
                <a:cubicBezTo>
                  <a:pt x="49451" y="155575"/>
                  <a:pt x="44450" y="160576"/>
                  <a:pt x="44450" y="166688"/>
                </a:cubicBezTo>
                <a:close/>
                <a:moveTo>
                  <a:pt x="133350" y="166688"/>
                </a:moveTo>
                <a:lnTo>
                  <a:pt x="133350" y="188913"/>
                </a:lnTo>
                <a:cubicBezTo>
                  <a:pt x="133350" y="195024"/>
                  <a:pt x="138351" y="200025"/>
                  <a:pt x="144463" y="200025"/>
                </a:cubicBezTo>
                <a:lnTo>
                  <a:pt x="166688" y="200025"/>
                </a:lnTo>
                <a:cubicBezTo>
                  <a:pt x="172799" y="200025"/>
                  <a:pt x="177800" y="195024"/>
                  <a:pt x="177800" y="188913"/>
                </a:cubicBezTo>
                <a:lnTo>
                  <a:pt x="177800" y="166688"/>
                </a:lnTo>
                <a:cubicBezTo>
                  <a:pt x="177800" y="160576"/>
                  <a:pt x="172799" y="155575"/>
                  <a:pt x="166688" y="155575"/>
                </a:cubicBezTo>
                <a:lnTo>
                  <a:pt x="144463" y="155575"/>
                </a:lnTo>
                <a:cubicBezTo>
                  <a:pt x="138351" y="155575"/>
                  <a:pt x="133350" y="160576"/>
                  <a:pt x="133350" y="166688"/>
                </a:cubicBezTo>
                <a:close/>
                <a:moveTo>
                  <a:pt x="233363" y="155575"/>
                </a:moveTo>
                <a:cubicBezTo>
                  <a:pt x="227251" y="155575"/>
                  <a:pt x="222250" y="160576"/>
                  <a:pt x="222250" y="166688"/>
                </a:cubicBezTo>
                <a:lnTo>
                  <a:pt x="222250" y="188913"/>
                </a:lnTo>
                <a:cubicBezTo>
                  <a:pt x="222250" y="195024"/>
                  <a:pt x="227251" y="200025"/>
                  <a:pt x="233363" y="200025"/>
                </a:cubicBezTo>
                <a:lnTo>
                  <a:pt x="255587" y="200025"/>
                </a:lnTo>
                <a:cubicBezTo>
                  <a:pt x="261699" y="200025"/>
                  <a:pt x="266700" y="195024"/>
                  <a:pt x="266700" y="188913"/>
                </a:cubicBezTo>
                <a:lnTo>
                  <a:pt x="266700" y="166688"/>
                </a:lnTo>
                <a:cubicBezTo>
                  <a:pt x="266700" y="160576"/>
                  <a:pt x="261699" y="155575"/>
                  <a:pt x="255587" y="155575"/>
                </a:cubicBezTo>
                <a:lnTo>
                  <a:pt x="233363" y="155575"/>
                </a:lnTo>
                <a:close/>
                <a:moveTo>
                  <a:pt x="44450" y="255587"/>
                </a:moveTo>
                <a:lnTo>
                  <a:pt x="44450" y="277813"/>
                </a:lnTo>
                <a:cubicBezTo>
                  <a:pt x="44450" y="283924"/>
                  <a:pt x="49451" y="288925"/>
                  <a:pt x="55563" y="288925"/>
                </a:cubicBezTo>
                <a:lnTo>
                  <a:pt x="77788" y="288925"/>
                </a:lnTo>
                <a:cubicBezTo>
                  <a:pt x="83899" y="288925"/>
                  <a:pt x="88900" y="283924"/>
                  <a:pt x="88900" y="277813"/>
                </a:cubicBezTo>
                <a:lnTo>
                  <a:pt x="88900" y="255587"/>
                </a:lnTo>
                <a:cubicBezTo>
                  <a:pt x="88900" y="249476"/>
                  <a:pt x="83899" y="244475"/>
                  <a:pt x="77788" y="244475"/>
                </a:cubicBezTo>
                <a:lnTo>
                  <a:pt x="55563" y="244475"/>
                </a:lnTo>
                <a:cubicBezTo>
                  <a:pt x="49451" y="244475"/>
                  <a:pt x="44450" y="249476"/>
                  <a:pt x="44450" y="255587"/>
                </a:cubicBezTo>
                <a:close/>
                <a:moveTo>
                  <a:pt x="144463" y="244475"/>
                </a:moveTo>
                <a:cubicBezTo>
                  <a:pt x="138351" y="244475"/>
                  <a:pt x="133350" y="249476"/>
                  <a:pt x="133350" y="255587"/>
                </a:cubicBezTo>
                <a:lnTo>
                  <a:pt x="133350" y="277813"/>
                </a:lnTo>
                <a:cubicBezTo>
                  <a:pt x="133350" y="283924"/>
                  <a:pt x="138351" y="288925"/>
                  <a:pt x="144463" y="288925"/>
                </a:cubicBezTo>
                <a:lnTo>
                  <a:pt x="166688" y="288925"/>
                </a:lnTo>
                <a:cubicBezTo>
                  <a:pt x="172799" y="288925"/>
                  <a:pt x="177800" y="283924"/>
                  <a:pt x="177800" y="277813"/>
                </a:cubicBezTo>
                <a:lnTo>
                  <a:pt x="177800" y="255587"/>
                </a:lnTo>
                <a:cubicBezTo>
                  <a:pt x="177800" y="249476"/>
                  <a:pt x="172799" y="244475"/>
                  <a:pt x="166688" y="244475"/>
                </a:cubicBezTo>
                <a:lnTo>
                  <a:pt x="144463" y="244475"/>
                </a:lnTo>
                <a:close/>
                <a:moveTo>
                  <a:pt x="222250" y="255587"/>
                </a:moveTo>
                <a:lnTo>
                  <a:pt x="222250" y="277813"/>
                </a:lnTo>
                <a:cubicBezTo>
                  <a:pt x="222250" y="283924"/>
                  <a:pt x="227251" y="288925"/>
                  <a:pt x="233363" y="288925"/>
                </a:cubicBezTo>
                <a:lnTo>
                  <a:pt x="255587" y="288925"/>
                </a:lnTo>
                <a:cubicBezTo>
                  <a:pt x="261699" y="288925"/>
                  <a:pt x="266700" y="283924"/>
                  <a:pt x="266700" y="277813"/>
                </a:cubicBezTo>
                <a:lnTo>
                  <a:pt x="266700" y="255587"/>
                </a:lnTo>
                <a:cubicBezTo>
                  <a:pt x="266700" y="249476"/>
                  <a:pt x="261699" y="244475"/>
                  <a:pt x="255587" y="244475"/>
                </a:cubicBezTo>
                <a:lnTo>
                  <a:pt x="233363" y="244475"/>
                </a:lnTo>
                <a:cubicBezTo>
                  <a:pt x="227251" y="244475"/>
                  <a:pt x="222250" y="249476"/>
                  <a:pt x="222250" y="255587"/>
                </a:cubicBezTo>
                <a:close/>
              </a:path>
            </a:pathLst>
          </a:custGeom>
          <a:solidFill>
            <a:srgbClr val="2D3142"/>
          </a:solidFill>
          <a:ln/>
        </p:spPr>
      </p:sp>
      <p:sp>
        <p:nvSpPr>
          <p:cNvPr id="15" name="Text 13"/>
          <p:cNvSpPr/>
          <p:nvPr/>
        </p:nvSpPr>
        <p:spPr>
          <a:xfrm>
            <a:off x="6032500" y="2032000"/>
            <a:ext cx="3937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MONTHLY BILLING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032500" y="2476500"/>
            <a:ext cx="3937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B07D4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$2.5K – $4.5K/mo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032500" y="3048000"/>
            <a:ext cx="3937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B1F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Pay-as-you-go SaaS subscription. Low setup fee with predictable monthly opex and zero infrastructure burden.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032500" y="4064000"/>
            <a:ext cx="3937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300" b="1" dirty="0">
                <a:solidFill>
                  <a:srgbClr val="B07D4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Best when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1B1F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KenorCare wants predictable opex and no ops responsibility.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032500" y="4889500"/>
            <a:ext cx="3937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300" b="1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Risk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1B1F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Cumulative cost exceeds one-off over 3+ years.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032500" y="5715000"/>
            <a:ext cx="1397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100" spc="100" kern="0" dirty="0">
                <a:solidFill>
                  <a:srgbClr val="8D99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SAAS MODEL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0668000" y="1270000"/>
            <a:ext cx="4826000" cy="5588000"/>
          </a:xfrm>
          <a:prstGeom prst="rect">
            <a:avLst/>
          </a:prstGeom>
          <a:solidFill>
            <a:srgbClr val="2D3142"/>
          </a:solidFill>
          <a:ln/>
        </p:spPr>
      </p:sp>
      <p:sp>
        <p:nvSpPr>
          <p:cNvPr id="22" name="Shape 20"/>
          <p:cNvSpPr/>
          <p:nvPr/>
        </p:nvSpPr>
        <p:spPr>
          <a:xfrm>
            <a:off x="10858500" y="1460500"/>
            <a:ext cx="1968500" cy="304800"/>
          </a:xfrm>
          <a:prstGeom prst="rect">
            <a:avLst/>
          </a:prstGeom>
          <a:solidFill>
            <a:srgbClr val="B07D45"/>
          </a:solidFill>
          <a:ln/>
        </p:spPr>
      </p:sp>
      <p:sp>
        <p:nvSpPr>
          <p:cNvPr id="23" name="Text 21"/>
          <p:cNvSpPr/>
          <p:nvPr/>
        </p:nvSpPr>
        <p:spPr>
          <a:xfrm>
            <a:off x="10858500" y="1460500"/>
            <a:ext cx="19685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000" spc="1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RECOMMENDED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10836275" y="1968500"/>
            <a:ext cx="400050" cy="355600"/>
          </a:xfrm>
          <a:custGeom>
            <a:avLst/>
            <a:gdLst/>
            <a:ahLst/>
            <a:cxnLst/>
            <a:rect l="l" t="t" r="r" b="b"/>
            <a:pathLst>
              <a:path w="400050" h="355600">
                <a:moveTo>
                  <a:pt x="186759" y="59174"/>
                </a:moveTo>
                <a:lnTo>
                  <a:pt x="105777" y="149185"/>
                </a:lnTo>
                <a:cubicBezTo>
                  <a:pt x="102582" y="152727"/>
                  <a:pt x="102721" y="158214"/>
                  <a:pt x="106124" y="161617"/>
                </a:cubicBezTo>
                <a:cubicBezTo>
                  <a:pt x="127308" y="182801"/>
                  <a:pt x="161687" y="182801"/>
                  <a:pt x="182870" y="161617"/>
                </a:cubicBezTo>
                <a:lnTo>
                  <a:pt x="204956" y="139531"/>
                </a:lnTo>
                <a:cubicBezTo>
                  <a:pt x="207873" y="136614"/>
                  <a:pt x="211554" y="135017"/>
                  <a:pt x="215305" y="134739"/>
                </a:cubicBezTo>
                <a:cubicBezTo>
                  <a:pt x="220028" y="134322"/>
                  <a:pt x="224889" y="135920"/>
                  <a:pt x="228501" y="139531"/>
                </a:cubicBezTo>
                <a:lnTo>
                  <a:pt x="351155" y="261144"/>
                </a:lnTo>
                <a:lnTo>
                  <a:pt x="400050" y="222250"/>
                </a:lnTo>
                <a:lnTo>
                  <a:pt x="400050" y="22225"/>
                </a:lnTo>
                <a:lnTo>
                  <a:pt x="322263" y="66675"/>
                </a:lnTo>
                <a:lnTo>
                  <a:pt x="305733" y="55632"/>
                </a:lnTo>
                <a:cubicBezTo>
                  <a:pt x="294759" y="48339"/>
                  <a:pt x="281910" y="44450"/>
                  <a:pt x="268714" y="44450"/>
                </a:cubicBezTo>
                <a:lnTo>
                  <a:pt x="219819" y="44450"/>
                </a:lnTo>
                <a:cubicBezTo>
                  <a:pt x="219055" y="44450"/>
                  <a:pt x="218222" y="44450"/>
                  <a:pt x="217458" y="44519"/>
                </a:cubicBezTo>
                <a:cubicBezTo>
                  <a:pt x="205720" y="45145"/>
                  <a:pt x="194677" y="50423"/>
                  <a:pt x="186759" y="59174"/>
                </a:cubicBezTo>
                <a:close/>
                <a:moveTo>
                  <a:pt x="80982" y="126891"/>
                </a:moveTo>
                <a:lnTo>
                  <a:pt x="155158" y="44450"/>
                </a:lnTo>
                <a:lnTo>
                  <a:pt x="127655" y="44450"/>
                </a:lnTo>
                <a:cubicBezTo>
                  <a:pt x="109944" y="44450"/>
                  <a:pt x="92998" y="51465"/>
                  <a:pt x="80496" y="63966"/>
                </a:cubicBezTo>
                <a:lnTo>
                  <a:pt x="77788" y="66675"/>
                </a:lnTo>
                <a:lnTo>
                  <a:pt x="0" y="22225"/>
                </a:lnTo>
                <a:lnTo>
                  <a:pt x="0" y="222250"/>
                </a:lnTo>
                <a:lnTo>
                  <a:pt x="108625" y="312747"/>
                </a:lnTo>
                <a:cubicBezTo>
                  <a:pt x="124599" y="326082"/>
                  <a:pt x="144740" y="333375"/>
                  <a:pt x="165507" y="333375"/>
                </a:cubicBezTo>
                <a:lnTo>
                  <a:pt x="176411" y="333375"/>
                </a:lnTo>
                <a:lnTo>
                  <a:pt x="171549" y="328513"/>
                </a:lnTo>
                <a:cubicBezTo>
                  <a:pt x="165021" y="321985"/>
                  <a:pt x="165021" y="311428"/>
                  <a:pt x="171549" y="304969"/>
                </a:cubicBezTo>
                <a:cubicBezTo>
                  <a:pt x="178078" y="298510"/>
                  <a:pt x="188635" y="298440"/>
                  <a:pt x="195094" y="304969"/>
                </a:cubicBezTo>
                <a:lnTo>
                  <a:pt x="223570" y="333444"/>
                </a:lnTo>
                <a:lnTo>
                  <a:pt x="229820" y="333444"/>
                </a:lnTo>
                <a:cubicBezTo>
                  <a:pt x="243086" y="333444"/>
                  <a:pt x="256074" y="330458"/>
                  <a:pt x="267881" y="324902"/>
                </a:cubicBezTo>
                <a:lnTo>
                  <a:pt x="249337" y="306288"/>
                </a:lnTo>
                <a:cubicBezTo>
                  <a:pt x="242808" y="299760"/>
                  <a:pt x="242808" y="289203"/>
                  <a:pt x="249337" y="282744"/>
                </a:cubicBezTo>
                <a:cubicBezTo>
                  <a:pt x="255865" y="276285"/>
                  <a:pt x="266422" y="276215"/>
                  <a:pt x="272881" y="282744"/>
                </a:cubicBezTo>
                <a:lnTo>
                  <a:pt x="295106" y="304969"/>
                </a:lnTo>
                <a:lnTo>
                  <a:pt x="307261" y="292814"/>
                </a:lnTo>
                <a:cubicBezTo>
                  <a:pt x="313442" y="286633"/>
                  <a:pt x="315248" y="277674"/>
                  <a:pt x="312539" y="269825"/>
                </a:cubicBezTo>
                <a:lnTo>
                  <a:pt x="216763" y="174814"/>
                </a:lnTo>
                <a:lnTo>
                  <a:pt x="206415" y="185162"/>
                </a:lnTo>
                <a:cubicBezTo>
                  <a:pt x="172174" y="219402"/>
                  <a:pt x="116751" y="219402"/>
                  <a:pt x="82510" y="185162"/>
                </a:cubicBezTo>
                <a:cubicBezTo>
                  <a:pt x="66536" y="169188"/>
                  <a:pt x="65911" y="143560"/>
                  <a:pt x="80982" y="126821"/>
                </a:cubicBezTo>
                <a:close/>
              </a:path>
            </a:pathLst>
          </a:custGeom>
          <a:solidFill>
            <a:srgbClr val="B07D45"/>
          </a:solidFill>
          <a:ln/>
        </p:spPr>
      </p:sp>
      <p:sp>
        <p:nvSpPr>
          <p:cNvPr id="25" name="Text 23"/>
          <p:cNvSpPr/>
          <p:nvPr/>
        </p:nvSpPr>
        <p:spPr>
          <a:xfrm>
            <a:off x="10858500" y="2476500"/>
            <a:ext cx="431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STRATEGIC PARTNERSHIP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0858500" y="2921000"/>
            <a:ext cx="4318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B07D4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10% – 25% Revenue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0858500" y="3492500"/>
            <a:ext cx="4318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Zero upfront cash. Revenue share on commercialization with aligned incentives for both parties.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0858500" y="4508500"/>
            <a:ext cx="4318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300" b="1" dirty="0">
                <a:solidFill>
                  <a:srgbClr val="B07D4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Best when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KenorCare wants zero cash outlay, ongoing upside, and shared mission.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0858500" y="5334000"/>
            <a:ext cx="4318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300" b="1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Risk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Returns depend on commercial traction — shared risk, shared reward.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0858500" y="6223000"/>
            <a:ext cx="1778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100" spc="100" kern="0" dirty="0">
                <a:solidFill>
                  <a:srgbClr val="B07D4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REVENUE SHARE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0" y="8890000"/>
            <a:ext cx="16256000" cy="254000"/>
          </a:xfrm>
          <a:prstGeom prst="rect">
            <a:avLst/>
          </a:prstGeom>
          <a:solidFill>
            <a:srgbClr val="2D3142"/>
          </a:solidFill>
          <a:ln/>
        </p:spPr>
      </p:sp>
      <p:sp>
        <p:nvSpPr>
          <p:cNvPr id="32" name="Text 30"/>
          <p:cNvSpPr/>
          <p:nvPr/>
        </p:nvSpPr>
        <p:spPr>
          <a:xfrm>
            <a:off x="13335000" y="8940800"/>
            <a:ext cx="2540000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000" spc="100" kern="0" dirty="0">
                <a:solidFill>
                  <a:srgbClr val="FFFFFF">
                    <a:alpha val="53333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ENGAGEMENT MODELS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25400"/>
          </a:xfrm>
          <a:prstGeom prst="rect">
            <a:avLst/>
          </a:prstGeom>
          <a:solidFill>
            <a:srgbClr val="B07D45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3810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spc="200" kern="0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MODEL 1 — ONE-OFF BUILD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952500"/>
            <a:ext cx="508000" cy="25400"/>
          </a:xfrm>
          <a:prstGeom prst="rect">
            <a:avLst/>
          </a:prstGeom>
          <a:solidFill>
            <a:srgbClr val="B07D45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206500"/>
            <a:ext cx="4826000" cy="6858000"/>
          </a:xfrm>
          <a:prstGeom prst="rect">
            <a:avLst/>
          </a:prstGeom>
          <a:solidFill>
            <a:srgbClr val="EDEAE4"/>
          </a:solidFill>
          <a:ln/>
        </p:spPr>
      </p:sp>
      <p:sp>
        <p:nvSpPr>
          <p:cNvPr id="6" name="Text 4"/>
          <p:cNvSpPr/>
          <p:nvPr/>
        </p:nvSpPr>
        <p:spPr>
          <a:xfrm>
            <a:off x="1079500" y="14605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spc="200" kern="0" dirty="0">
                <a:solidFill>
                  <a:srgbClr val="B07D4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FIXED PRICE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79500" y="1778000"/>
            <a:ext cx="4191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400" dirty="0">
                <a:solidFill>
                  <a:srgbClr val="B07D4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$55K – $75K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79500" y="2603500"/>
            <a:ext cx="4191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Full TOR scope, source code handover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079500" y="3111500"/>
            <a:ext cx="4191000" cy="12700"/>
          </a:xfrm>
          <a:prstGeom prst="rect">
            <a:avLst/>
          </a:prstGeom>
          <a:solidFill>
            <a:srgbClr val="D5D0C8"/>
          </a:solidFill>
          <a:ln/>
        </p:spPr>
      </p:sp>
      <p:sp>
        <p:nvSpPr>
          <p:cNvPr id="10" name="Text 8"/>
          <p:cNvSpPr/>
          <p:nvPr/>
        </p:nvSpPr>
        <p:spPr>
          <a:xfrm>
            <a:off x="1079500" y="3302000"/>
            <a:ext cx="4191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spc="200" kern="0" dirty="0">
                <a:solidFill>
                  <a:srgbClr val="B07D4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OPTIONAL SUPPORT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79500" y="3619500"/>
            <a:ext cx="4191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$1,500 / month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79500" y="4127500"/>
            <a:ext cx="4191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Post-handover ongoing support retainer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079500" y="4635500"/>
            <a:ext cx="4191000" cy="12700"/>
          </a:xfrm>
          <a:prstGeom prst="rect">
            <a:avLst/>
          </a:prstGeom>
          <a:solidFill>
            <a:srgbClr val="D5D0C8"/>
          </a:solidFill>
          <a:ln/>
        </p:spPr>
      </p:sp>
      <p:sp>
        <p:nvSpPr>
          <p:cNvPr id="14" name="Text 12"/>
          <p:cNvSpPr/>
          <p:nvPr/>
        </p:nvSpPr>
        <p:spPr>
          <a:xfrm>
            <a:off x="1079500" y="4826000"/>
            <a:ext cx="127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spc="200" kern="0" dirty="0">
                <a:solidFill>
                  <a:srgbClr val="B07D4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79500" y="5143500"/>
            <a:ext cx="4191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400" dirty="0">
                <a:solidFill>
                  <a:srgbClr val="1B1F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Predictable, capped total cost</a:t>
            </a:r>
            <a:endParaRPr lang="en-US" sz="1600" dirty="0"/>
          </a:p>
          <a:p>
            <a:pPr marL="254000" indent="-25400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400" dirty="0">
                <a:solidFill>
                  <a:srgbClr val="1B1F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Full ownership of code and data</a:t>
            </a:r>
            <a:endParaRPr lang="en-US" sz="1600" dirty="0"/>
          </a:p>
          <a:p>
            <a:pPr marL="254000" indent="-25400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400" dirty="0">
                <a:solidFill>
                  <a:srgbClr val="1B1F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 ongoing royalty or revenue share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79500" y="6477000"/>
            <a:ext cx="127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spc="200" kern="0" dirty="0">
                <a:solidFill>
                  <a:srgbClr val="8D99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79500" y="6794500"/>
            <a:ext cx="4191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400" dirty="0">
                <a:solidFill>
                  <a:srgbClr val="1B1F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Highest upfront capex</a:t>
            </a:r>
            <a:endParaRPr lang="en-US" sz="1600" dirty="0"/>
          </a:p>
          <a:p>
            <a:pPr marL="254000" indent="-25400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400" dirty="0">
                <a:solidFill>
                  <a:srgbClr val="1B1F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KenorCare bears all ongoing costs</a:t>
            </a:r>
            <a:endParaRPr lang="en-US" sz="1600" dirty="0"/>
          </a:p>
          <a:p>
            <a:pPr marL="254000" indent="-25400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400" dirty="0">
                <a:solidFill>
                  <a:srgbClr val="1B1F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 shared upside on commercialization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096000" y="1206500"/>
            <a:ext cx="381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spc="200" kern="0" dirty="0">
                <a:solidFill>
                  <a:srgbClr val="B07D4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PAYMENT SCHEDULE</a:t>
            </a:r>
            <a:endParaRPr lang="en-US" sz="1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96000" y="1587500"/>
          <a:ext cx="9398000" cy="2667000"/>
        </p:xfrm>
        <a:graphic>
          <a:graphicData uri="http://schemas.openxmlformats.org/drawingml/2006/table">
            <a:tbl>
              <a:tblPr/>
              <a:tblGrid>
                <a:gridCol w="3289300"/>
                <a:gridCol w="1409700"/>
                <a:gridCol w="4699000"/>
              </a:tblGrid>
              <a:tr h="533400"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Milestone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14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%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14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Trigger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142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B1F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Kickoff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B1F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30%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B1F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Contract signed, requirements locked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B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B1F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Clinical &amp; Resident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B1F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30%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B1F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Residents, care plans, meds, vitals delivered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B1F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Therapy, Mentorship &amp; AI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B1F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30%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B1F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Therapy, mentorship, AI integration delivered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B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B1F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Go-live &amp; Acceptance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B1F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10%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B1F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Deployed, UAT signed, warranty starts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" name="Text 17"/>
          <p:cNvSpPr/>
          <p:nvPr/>
        </p:nvSpPr>
        <p:spPr>
          <a:xfrm>
            <a:off x="6096000" y="4508500"/>
            <a:ext cx="381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spc="200" kern="0" dirty="0">
                <a:solidFill>
                  <a:srgbClr val="B07D4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WHAT'S INCLUDED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6096000" y="4889500"/>
            <a:ext cx="4445000" cy="203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400" dirty="0">
                <a:solidFill>
                  <a:srgbClr val="1B1F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Full TOR scope (all 9 domains)</a:t>
            </a:r>
            <a:endParaRPr lang="en-US" sz="1600" dirty="0"/>
          </a:p>
          <a:p>
            <a:pPr marL="254000" indent="-25400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400" dirty="0">
                <a:solidFill>
                  <a:srgbClr val="1B1F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Source code + documentation</a:t>
            </a:r>
            <a:endParaRPr lang="en-US" sz="1600" dirty="0"/>
          </a:p>
          <a:p>
            <a:pPr marL="254000" indent="-25400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400" dirty="0">
                <a:solidFill>
                  <a:srgbClr val="1B1F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Production + staging deployment</a:t>
            </a:r>
            <a:endParaRPr lang="en-US" sz="1600" dirty="0"/>
          </a:p>
          <a:p>
            <a:pPr marL="254000" indent="-25400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400" dirty="0">
                <a:solidFill>
                  <a:srgbClr val="1B1F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30-day post-launch warranty</a:t>
            </a:r>
            <a:endParaRPr lang="en-US" sz="1600" dirty="0"/>
          </a:p>
          <a:p>
            <a:pPr marL="254000" indent="-25400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400" dirty="0">
                <a:solidFill>
                  <a:srgbClr val="1B1F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Admin training (2 sessions)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10922000" y="4508500"/>
            <a:ext cx="381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spc="200" kern="0" dirty="0">
                <a:solidFill>
                  <a:srgbClr val="B07D4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RESPONSIBILITIES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10922000" y="4889500"/>
            <a:ext cx="4572000" cy="146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300" b="1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KenorCare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1B1F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Funds the build, signs off milestones, provides UAT feedback, owns instance, code, and data post go-live, takes over hosting and AI costs.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10922000" y="6413500"/>
            <a:ext cx="4572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300" b="1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Product Partner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1B1F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Delivers platform, deploys once, hands over code and docs, exits after warranty unless retainer signed.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0" y="8890000"/>
            <a:ext cx="16256000" cy="254000"/>
          </a:xfrm>
          <a:prstGeom prst="rect">
            <a:avLst/>
          </a:prstGeom>
          <a:solidFill>
            <a:srgbClr val="2D3142"/>
          </a:solidFill>
          <a:ln/>
        </p:spPr>
      </p:sp>
      <p:sp>
        <p:nvSpPr>
          <p:cNvPr id="26" name="Text 23"/>
          <p:cNvSpPr/>
          <p:nvPr/>
        </p:nvSpPr>
        <p:spPr>
          <a:xfrm>
            <a:off x="13335000" y="8940800"/>
            <a:ext cx="2540000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000" spc="100" kern="0" dirty="0">
                <a:solidFill>
                  <a:srgbClr val="FFFFFF">
                    <a:alpha val="53333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MODEL 1: ONE-OFF BUILD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25400"/>
          </a:xfrm>
          <a:prstGeom prst="rect">
            <a:avLst/>
          </a:prstGeom>
          <a:solidFill>
            <a:srgbClr val="B07D45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3810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spc="200" kern="0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MODEL 2 — MONTHLY BILLING (SAAS)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952500"/>
            <a:ext cx="508000" cy="25400"/>
          </a:xfrm>
          <a:prstGeom prst="rect">
            <a:avLst/>
          </a:prstGeom>
          <a:solidFill>
            <a:srgbClr val="B07D45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206500"/>
            <a:ext cx="4826000" cy="7112000"/>
          </a:xfrm>
          <a:prstGeom prst="rect">
            <a:avLst/>
          </a:prstGeom>
          <a:solidFill>
            <a:srgbClr val="EDEAE4"/>
          </a:solidFill>
          <a:ln/>
        </p:spPr>
      </p:sp>
      <p:sp>
        <p:nvSpPr>
          <p:cNvPr id="6" name="Text 4"/>
          <p:cNvSpPr/>
          <p:nvPr/>
        </p:nvSpPr>
        <p:spPr>
          <a:xfrm>
            <a:off x="1079500" y="14605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spc="200" kern="0" dirty="0">
                <a:solidFill>
                  <a:srgbClr val="B07D4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ONE-TIME SETUP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79500" y="1778000"/>
            <a:ext cx="4191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000" dirty="0">
                <a:solidFill>
                  <a:srgbClr val="B07D4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$8K – $12K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79500" y="26035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spc="200" kern="0" dirty="0">
                <a:solidFill>
                  <a:srgbClr val="B07D4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MONTHLY FEE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79500" y="2921000"/>
            <a:ext cx="4191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000" dirty="0">
                <a:solidFill>
                  <a:srgbClr val="B07D4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$2.5K – $4.5K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79500" y="3619500"/>
            <a:ext cx="4191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Annual prepay: </a:t>
            </a:r>
            <a:pPr>
              <a:lnSpc>
                <a:spcPct val="100000"/>
              </a:lnSpc>
            </a:pPr>
            <a:r>
              <a:rPr lang="en-US" sz="1400" b="1" dirty="0">
                <a:solidFill>
                  <a:srgbClr val="B07D4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10% discount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079500" y="4127500"/>
            <a:ext cx="4191000" cy="12700"/>
          </a:xfrm>
          <a:prstGeom prst="rect">
            <a:avLst/>
          </a:prstGeom>
          <a:solidFill>
            <a:srgbClr val="D5D0C8"/>
          </a:solidFill>
          <a:ln/>
        </p:spPr>
      </p:sp>
      <p:sp>
        <p:nvSpPr>
          <p:cNvPr id="12" name="Text 10"/>
          <p:cNvSpPr/>
          <p:nvPr/>
        </p:nvSpPr>
        <p:spPr>
          <a:xfrm>
            <a:off x="1079500" y="43180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spc="200" kern="0" dirty="0">
                <a:solidFill>
                  <a:srgbClr val="B07D4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TERM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79500" y="4635500"/>
            <a:ext cx="4191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B1F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Month-to-month or annual. 30-day notice for cancellation. Data export on offboarding.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079500" y="5651500"/>
            <a:ext cx="4191000" cy="12700"/>
          </a:xfrm>
          <a:prstGeom prst="rect">
            <a:avLst/>
          </a:prstGeom>
          <a:solidFill>
            <a:srgbClr val="D5D0C8"/>
          </a:solidFill>
          <a:ln/>
        </p:spPr>
      </p:sp>
      <p:sp>
        <p:nvSpPr>
          <p:cNvPr id="15" name="Text 13"/>
          <p:cNvSpPr/>
          <p:nvPr/>
        </p:nvSpPr>
        <p:spPr>
          <a:xfrm>
            <a:off x="1079500" y="5842000"/>
            <a:ext cx="127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spc="200" kern="0" dirty="0">
                <a:solidFill>
                  <a:srgbClr val="B07D4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79500" y="6159500"/>
            <a:ext cx="4191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300" dirty="0">
                <a:solidFill>
                  <a:srgbClr val="1B1F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Low entry cost; opex not capex</a:t>
            </a:r>
            <a:endParaRPr lang="en-US" sz="1600" dirty="0"/>
          </a:p>
          <a:p>
            <a:pPr marL="254000" indent="-25400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300" dirty="0">
                <a:solidFill>
                  <a:srgbClr val="1B1F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Zero infrastructure or AI burden</a:t>
            </a:r>
            <a:endParaRPr lang="en-US" sz="1600" dirty="0"/>
          </a:p>
          <a:p>
            <a:pPr marL="254000" indent="-25400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300" dirty="0">
                <a:solidFill>
                  <a:srgbClr val="1B1F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Continuous improvement included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79500" y="7239000"/>
            <a:ext cx="127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spc="200" kern="0" dirty="0">
                <a:solidFill>
                  <a:srgbClr val="8D99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79500" y="7556500"/>
            <a:ext cx="4191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300" dirty="0">
                <a:solidFill>
                  <a:srgbClr val="1B1F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Cumulative cost exceeds one-off over 3+ years</a:t>
            </a:r>
            <a:endParaRPr lang="en-US" sz="1600" dirty="0"/>
          </a:p>
          <a:p>
            <a:pPr marL="254000" indent="-25400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300" dirty="0">
                <a:solidFill>
                  <a:srgbClr val="1B1F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KenorCare does not own the code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096000" y="1206500"/>
            <a:ext cx="381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spc="200" kern="0" dirty="0">
                <a:solidFill>
                  <a:srgbClr val="B07D4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THREE TIERS</a:t>
            </a:r>
            <a:endParaRPr lang="en-US" sz="16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96000" y="1587500"/>
          <a:ext cx="9398000" cy="2476500"/>
        </p:xfrm>
        <a:graphic>
          <a:graphicData uri="http://schemas.openxmlformats.org/drawingml/2006/table">
            <a:tbl>
              <a:tblPr/>
              <a:tblGrid>
                <a:gridCol w="1879600"/>
                <a:gridCol w="1409700"/>
                <a:gridCol w="1879600"/>
                <a:gridCol w="1879600"/>
                <a:gridCol w="2349500"/>
              </a:tblGrid>
              <a:tr h="543314"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Tier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14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Monthly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14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Resident Cap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14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AI Usage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14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Support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142"/>
                    </a:solidFill>
                  </a:tcPr>
                </a:tc>
              </a:tr>
              <a:tr h="644395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B1F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Standard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B1F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$2,500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B1F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Up to 50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B1F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Standard cap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B1F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Business hours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B"/>
                    </a:solidFill>
                  </a:tcPr>
                </a:tc>
              </a:tr>
              <a:tr h="644395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B1F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Professional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B1F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$3,500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B1F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Up to 150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B1F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Expanded cap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B1F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Priority, 1-day SLA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4395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B1F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Enterprise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B1F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$4,500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B1F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Unlimited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B1F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High cap + custom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B1F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Dedicated, 4-hr SLA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B"/>
                    </a:solidFill>
                  </a:tcPr>
                </a:tc>
              </a:tr>
            </a:tbl>
          </a:graphicData>
        </a:graphic>
      </p:graphicFrame>
      <p:sp>
        <p:nvSpPr>
          <p:cNvPr id="21" name="Text 18"/>
          <p:cNvSpPr/>
          <p:nvPr/>
        </p:nvSpPr>
        <p:spPr>
          <a:xfrm>
            <a:off x="6096000" y="4318000"/>
            <a:ext cx="381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spc="200" kern="0" dirty="0">
                <a:solidFill>
                  <a:srgbClr val="B07D4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MONTHLY INCLUSIONS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6096000" y="4699000"/>
            <a:ext cx="4445000" cy="215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400" dirty="0">
                <a:solidFill>
                  <a:srgbClr val="1B1F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Hosting and infrastructure</a:t>
            </a:r>
            <a:endParaRPr lang="en-US" sz="1600" dirty="0"/>
          </a:p>
          <a:p>
            <a:pPr marL="254000" indent="-25400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400" dirty="0">
                <a:solidFill>
                  <a:srgbClr val="1B1F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 usage within tier cap</a:t>
            </a:r>
            <a:endParaRPr lang="en-US" sz="1600" dirty="0"/>
          </a:p>
          <a:p>
            <a:pPr marL="254000" indent="-25400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400" dirty="0">
                <a:solidFill>
                  <a:srgbClr val="1B1F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Security patches &amp; upgrades</a:t>
            </a:r>
            <a:endParaRPr lang="en-US" sz="1600" dirty="0"/>
          </a:p>
          <a:p>
            <a:pPr marL="254000" indent="-25400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400" dirty="0">
                <a:solidFill>
                  <a:srgbClr val="1B1F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Backups &amp; disaster recovery</a:t>
            </a:r>
            <a:endParaRPr lang="en-US" sz="1600" dirty="0"/>
          </a:p>
          <a:p>
            <a:pPr marL="254000" indent="-25400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400" dirty="0">
                <a:solidFill>
                  <a:srgbClr val="1B1F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Helpdesk support (per tier)</a:t>
            </a:r>
            <a:endParaRPr lang="en-US" sz="1600" dirty="0"/>
          </a:p>
          <a:p>
            <a:pPr marL="254000" indent="-25400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400" dirty="0">
                <a:solidFill>
                  <a:srgbClr val="1B1F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Minor enhancements &amp; bug fixes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10922000" y="4318000"/>
            <a:ext cx="381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spc="200" kern="0" dirty="0">
                <a:solidFill>
                  <a:srgbClr val="B07D4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RESPONSIBILITIES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10922000" y="4699000"/>
            <a:ext cx="4572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300" b="1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Product Partner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1B1F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Runs everything — hosting, ops, AI keys, backups, support, security, upgrades.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10922000" y="6096000"/>
            <a:ext cx="4572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300" b="1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KenorCare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1B1F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Pays subscription, designates admins, provides feedback, requests enhancements.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0" y="8890000"/>
            <a:ext cx="16256000" cy="254000"/>
          </a:xfrm>
          <a:prstGeom prst="rect">
            <a:avLst/>
          </a:prstGeom>
          <a:solidFill>
            <a:srgbClr val="2D3142"/>
          </a:solidFill>
          <a:ln/>
        </p:spPr>
      </p:sp>
      <p:sp>
        <p:nvSpPr>
          <p:cNvPr id="27" name="Text 24"/>
          <p:cNvSpPr/>
          <p:nvPr/>
        </p:nvSpPr>
        <p:spPr>
          <a:xfrm>
            <a:off x="12954000" y="8940800"/>
            <a:ext cx="2921000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000" spc="100" kern="0" dirty="0">
                <a:solidFill>
                  <a:srgbClr val="FFFFFF">
                    <a:alpha val="53333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MODEL 2: MONTHLY BILLING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25400"/>
          </a:xfrm>
          <a:prstGeom prst="rect">
            <a:avLst/>
          </a:prstGeom>
          <a:solidFill>
            <a:srgbClr val="B07D45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381000"/>
            <a:ext cx="1270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spc="200" kern="0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MODEL 3 — STRATEGIC PARTNERSHIP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3462000" y="444500"/>
            <a:ext cx="2032000" cy="355600"/>
          </a:xfrm>
          <a:prstGeom prst="rect">
            <a:avLst/>
          </a:prstGeom>
          <a:solidFill>
            <a:srgbClr val="B07D45"/>
          </a:solidFill>
          <a:ln/>
        </p:spPr>
      </p:sp>
      <p:sp>
        <p:nvSpPr>
          <p:cNvPr id="5" name="Text 3"/>
          <p:cNvSpPr/>
          <p:nvPr/>
        </p:nvSpPr>
        <p:spPr>
          <a:xfrm>
            <a:off x="13462000" y="444500"/>
            <a:ext cx="2032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spc="1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RECOMMENDED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62000" y="952500"/>
            <a:ext cx="508000" cy="25400"/>
          </a:xfrm>
          <a:prstGeom prst="rect">
            <a:avLst/>
          </a:prstGeom>
          <a:solidFill>
            <a:srgbClr val="B07D45"/>
          </a:solidFill>
          <a:ln/>
        </p:spPr>
      </p:sp>
      <p:sp>
        <p:nvSpPr>
          <p:cNvPr id="7" name="Shape 5"/>
          <p:cNvSpPr/>
          <p:nvPr/>
        </p:nvSpPr>
        <p:spPr>
          <a:xfrm>
            <a:off x="762000" y="1206500"/>
            <a:ext cx="7112000" cy="2032000"/>
          </a:xfrm>
          <a:prstGeom prst="rect">
            <a:avLst/>
          </a:prstGeom>
          <a:solidFill>
            <a:srgbClr val="2D3142"/>
          </a:solidFill>
          <a:ln/>
        </p:spPr>
      </p:sp>
      <p:sp>
        <p:nvSpPr>
          <p:cNvPr id="8" name="Text 6"/>
          <p:cNvSpPr/>
          <p:nvPr/>
        </p:nvSpPr>
        <p:spPr>
          <a:xfrm>
            <a:off x="1079500" y="13716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spc="200" kern="0" dirty="0">
                <a:solidFill>
                  <a:srgbClr val="B07D4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REVENUE SHARE STRUCTURE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79500" y="1752600"/>
            <a:ext cx="3175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3600" b="1" dirty="0">
                <a:solidFill>
                  <a:srgbClr val="B07D4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10%</a:t>
            </a:r>
            <a:pPr>
              <a:lnSpc>
                <a:spcPct val="14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baseline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318000" y="1752600"/>
            <a:ext cx="3302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3600" b="1" dirty="0">
                <a:solidFill>
                  <a:srgbClr val="B07D4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+15%</a:t>
            </a:r>
            <a:pPr>
              <a:lnSpc>
                <a:spcPct val="14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sourced bonus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79500" y="2540000"/>
            <a:ext cx="6477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B07D4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= 25% ON KENORCARE-SOURCED CUSTOMERS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255000" y="1206500"/>
            <a:ext cx="381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spc="200" kern="0" dirty="0">
                <a:solidFill>
                  <a:srgbClr val="B07D4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NET REVENUE DEFINITION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255000" y="1587500"/>
            <a:ext cx="7239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1B1F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Gross cash revenue </a:t>
            </a:r>
            <a:pPr>
              <a:lnSpc>
                <a:spcPct val="150000"/>
              </a:lnSpc>
            </a:pPr>
            <a:r>
              <a:rPr lang="en-US" sz="1300" b="1" dirty="0">
                <a:solidFill>
                  <a:srgbClr val="1B1F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less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1B1F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: refunds, chargebacks, bad debt; sales/VAT tax; payment processor fees; third-party pass-through costs (hosting, AI, messaging, storage, licensing); referral commissions; travel/implementation expenses.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62000" y="3492500"/>
            <a:ext cx="14732000" cy="12700"/>
          </a:xfrm>
          <a:prstGeom prst="rect">
            <a:avLst/>
          </a:prstGeom>
          <a:solidFill>
            <a:srgbClr val="D5D0C8"/>
          </a:solidFill>
          <a:ln/>
        </p:spPr>
      </p:sp>
      <p:sp>
        <p:nvSpPr>
          <p:cNvPr id="15" name="Text 13"/>
          <p:cNvSpPr/>
          <p:nvPr/>
        </p:nvSpPr>
        <p:spPr>
          <a:xfrm>
            <a:off x="762000" y="3683000"/>
            <a:ext cx="381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spc="200" kern="0" dirty="0">
                <a:solidFill>
                  <a:srgbClr val="B07D4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PAYMENT CADENCE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62000" y="4038600"/>
            <a:ext cx="4445000" cy="146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400" dirty="0">
                <a:solidFill>
                  <a:srgbClr val="1B1F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Quarterly settlement</a:t>
            </a:r>
            <a:endParaRPr lang="en-US" sz="1600" dirty="0"/>
          </a:p>
          <a:p>
            <a:pPr marL="254000" indent="-25400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400" dirty="0">
                <a:solidFill>
                  <a:srgbClr val="1B1F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Statement within 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400" b="1" dirty="0">
                <a:solidFill>
                  <a:srgbClr val="1B1F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30 days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400" dirty="0">
                <a:solidFill>
                  <a:srgbClr val="1B1F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of quarter end</a:t>
            </a:r>
            <a:endParaRPr lang="en-US" sz="1600" dirty="0"/>
          </a:p>
          <a:p>
            <a:pPr marL="254000" indent="-25400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400" dirty="0">
                <a:solidFill>
                  <a:srgbClr val="1B1F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Payment due within 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400" b="1" dirty="0">
                <a:solidFill>
                  <a:srgbClr val="1B1F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15 days</a:t>
            </a:r>
            <a:endParaRPr lang="en-US" sz="1600" dirty="0"/>
          </a:p>
          <a:p>
            <a:pPr marL="254000" indent="-25400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400" dirty="0">
                <a:solidFill>
                  <a:srgbClr val="1B1F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Annual audit right (15 days' notice)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715000" y="3683000"/>
            <a:ext cx="381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spc="200" kern="0" dirty="0">
                <a:solidFill>
                  <a:srgbClr val="B07D4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TERM &amp; PERFORMANCE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715000" y="4038600"/>
            <a:ext cx="4699000" cy="146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400" dirty="0">
                <a:solidFill>
                  <a:srgbClr val="1B1F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Initial term: 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400" b="1" dirty="0">
                <a:solidFill>
                  <a:srgbClr val="1B1F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 years</a:t>
            </a:r>
            <a:endParaRPr lang="en-US" sz="1600" dirty="0"/>
          </a:p>
          <a:p>
            <a:pPr marL="254000" indent="-25400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400" dirty="0">
                <a:solidFill>
                  <a:srgbClr val="1B1F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Auto-renews 1-year unless 60-day notice</a:t>
            </a:r>
            <a:endParaRPr lang="en-US" sz="1600" dirty="0"/>
          </a:p>
          <a:p>
            <a:pPr marL="254000" indent="-25400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400" dirty="0">
                <a:solidFill>
                  <a:srgbClr val="1B1F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Breach cure: 30 days</a:t>
            </a:r>
            <a:endParaRPr lang="en-US" sz="1600" dirty="0"/>
          </a:p>
          <a:p>
            <a:pPr marL="254000" indent="-25400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400" dirty="0">
                <a:solidFill>
                  <a:srgbClr val="1B1F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10% may suspend if support stops 60+ days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922000" y="3683000"/>
            <a:ext cx="381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spc="200" kern="0" dirty="0">
                <a:solidFill>
                  <a:srgbClr val="B07D4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WHY THIS FITS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0922000" y="4038600"/>
            <a:ext cx="4572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300" b="1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KenorCare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1B1F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Zero upfront. Ongoing revenue. Leverages clinical credibility into a commercial asset.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0922000" y="4826000"/>
            <a:ext cx="4572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300" b="1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Product Partner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1B1F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Domain validation, pilot environment, marketing reach, shared incentive.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62000" y="5588000"/>
            <a:ext cx="14732000" cy="12700"/>
          </a:xfrm>
          <a:prstGeom prst="rect">
            <a:avLst/>
          </a:prstGeom>
          <a:solidFill>
            <a:srgbClr val="D5D0C8"/>
          </a:solidFill>
          <a:ln/>
        </p:spPr>
      </p:sp>
      <p:sp>
        <p:nvSpPr>
          <p:cNvPr id="23" name="Text 21"/>
          <p:cNvSpPr/>
          <p:nvPr/>
        </p:nvSpPr>
        <p:spPr>
          <a:xfrm>
            <a:off x="762000" y="5778500"/>
            <a:ext cx="508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spc="200" kern="0" dirty="0">
                <a:solidFill>
                  <a:srgbClr val="B07D4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CUSTOMER TYPE BREAKDOWN</a:t>
            </a:r>
            <a:endParaRPr lang="en-US" sz="16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6159500"/>
          <a:ext cx="14732000" cy="1397000"/>
        </p:xfrm>
        <a:graphic>
          <a:graphicData uri="http://schemas.openxmlformats.org/drawingml/2006/table">
            <a:tbl>
              <a:tblPr/>
              <a:tblGrid>
                <a:gridCol w="7366000"/>
                <a:gridCol w="7366000"/>
              </a:tblGrid>
              <a:tr h="495300"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Customer Type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14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KenorCare Share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142"/>
                    </a:solidFill>
                  </a:tcPr>
                </a:tc>
              </a:tr>
              <a:tr h="9017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B1F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General Platform customer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B07D45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10% of Net Revenue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B"/>
                    </a:solidFill>
                  </a:tcPr>
                </a:tc>
              </a:tr>
            </a:tbl>
          </a:graphicData>
        </a:graphic>
      </p:graphicFrame>
      <p:sp>
        <p:nvSpPr>
          <p:cNvPr id="25" name="Shape 22"/>
          <p:cNvSpPr/>
          <p:nvPr/>
        </p:nvSpPr>
        <p:spPr>
          <a:xfrm>
            <a:off x="762000" y="6858000"/>
            <a:ext cx="14732000" cy="698500"/>
          </a:xfrm>
          <a:prstGeom prst="rect">
            <a:avLst/>
          </a:prstGeom>
          <a:solidFill>
            <a:srgbClr val="2D3142">
              <a:alpha val="6275"/>
            </a:srgbClr>
          </a:solidFill>
          <a:ln/>
        </p:spPr>
      </p:sp>
      <p:sp>
        <p:nvSpPr>
          <p:cNvPr id="26" name="Text 23"/>
          <p:cNvSpPr/>
          <p:nvPr/>
        </p:nvSpPr>
        <p:spPr>
          <a:xfrm>
            <a:off x="952500" y="6959600"/>
            <a:ext cx="69850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1B1F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KenorCare-sourced customer (introduced, referred, or campaigned)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8382000" y="6959600"/>
            <a:ext cx="68580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dirty="0">
                <a:solidFill>
                  <a:srgbClr val="B07D4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25%</a:t>
            </a:r>
            <a:pPr>
              <a:lnSpc>
                <a:spcPct val="100000"/>
              </a:lnSpc>
            </a:pPr>
            <a:r>
              <a:rPr lang="en-US" sz="1400" dirty="0">
                <a:solidFill>
                  <a:srgbClr val="1B1F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of Net Revenue</a:t>
            </a:r>
            <a:endParaRPr lang="en-US" sz="1600" dirty="0"/>
          </a:p>
        </p:txBody>
      </p:sp>
      <p:sp>
        <p:nvSpPr>
          <p:cNvPr id="28" name="Shape 25"/>
          <p:cNvSpPr/>
          <p:nvPr/>
        </p:nvSpPr>
        <p:spPr>
          <a:xfrm>
            <a:off x="0" y="8890000"/>
            <a:ext cx="16256000" cy="254000"/>
          </a:xfrm>
          <a:prstGeom prst="rect">
            <a:avLst/>
          </a:prstGeom>
          <a:solidFill>
            <a:srgbClr val="2D3142"/>
          </a:solidFill>
          <a:ln/>
        </p:spPr>
      </p:sp>
      <p:sp>
        <p:nvSpPr>
          <p:cNvPr id="29" name="Text 26"/>
          <p:cNvSpPr/>
          <p:nvPr/>
        </p:nvSpPr>
        <p:spPr>
          <a:xfrm>
            <a:off x="12446000" y="8940800"/>
            <a:ext cx="3429000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000" spc="100" kern="0" dirty="0">
                <a:solidFill>
                  <a:srgbClr val="FFFFFF">
                    <a:alpha val="53333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MODEL 3: STRATEGIC PARTNERSHIP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25400"/>
          </a:xfrm>
          <a:prstGeom prst="rect">
            <a:avLst/>
          </a:prstGeom>
          <a:solidFill>
            <a:srgbClr val="B07D45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3810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spc="200" kern="0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SIDE-BY-SIDE COMPARISON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952500"/>
            <a:ext cx="508000" cy="25400"/>
          </a:xfrm>
          <a:prstGeom prst="rect">
            <a:avLst/>
          </a:prstGeom>
          <a:solidFill>
            <a:srgbClr val="B07D45"/>
          </a:solidFill>
          <a:ln/>
        </p:spPr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1143000"/>
          <a:ext cx="14732000" cy="7366000"/>
        </p:xfrm>
        <a:graphic>
          <a:graphicData uri="http://schemas.openxmlformats.org/drawingml/2006/table">
            <a:tbl>
              <a:tblPr/>
              <a:tblGrid>
                <a:gridCol w="3241040"/>
                <a:gridCol w="3830320"/>
                <a:gridCol w="3830320"/>
                <a:gridCol w="3830320"/>
              </a:tblGrid>
              <a:tr h="544223"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Dimension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14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One-Off Build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14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Monthly Billing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14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B07D45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Strategic Partnership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142"/>
                    </a:solidFill>
                  </a:tcPr>
                </a:tc>
              </a:tr>
              <a:tr h="620162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B1F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Upfront Cost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B1F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$55K – $75K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B1F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$8K – $12K setup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B07D45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$0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B"/>
                    </a:solidFill>
                  </a:tcPr>
                </a:tc>
              </a:tr>
              <a:tr h="620162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B1F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Ongoing Cost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B1F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$0 (or $1.5K/mo)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B1F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$2.5K – $4.5K/mo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B1F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10% – 25% of Net Revenue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0162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B1F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Code Ownership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B1F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KenorCare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B1F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Product Partner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B1F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Product Partner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B"/>
                    </a:solidFill>
                  </a:tcPr>
                </a:tc>
              </a:tr>
              <a:tr h="620162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B1F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Hosting &amp; Ops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B1F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KenorCare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B1F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Product Partner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B1F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Product Partner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0162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B1F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AI Cost Burden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B1F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KenorCare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B1F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Product Partner (capped)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B1F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Pass-through (deducted)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B"/>
                    </a:solidFill>
                  </a:tcPr>
                </a:tc>
              </a:tr>
              <a:tr h="620162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B1F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External Revenue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B1F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None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B1F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None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B07D45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10% / 25%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0162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B1F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Risk to KenorCare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B1F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Highest cash exposure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B1F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Recurring opex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B1F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Tied to commercial traction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B"/>
                    </a:solidFill>
                  </a:tcPr>
                </a:tc>
              </a:tr>
              <a:tr h="620162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B1F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Risk to Partner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B1F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Lowest (paid in full)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B1F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Moderate (recurring)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B1F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Highest (no fee until sales)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0162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B1F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Time to Ready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B1F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3 – 4 months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B1F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3 – 4 months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B1F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3 – 4 months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B"/>
                    </a:solidFill>
                  </a:tcPr>
                </a:tc>
              </a:tr>
              <a:tr h="620162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B1F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Term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B1F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Project + warranty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B1F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Month-to-month / annual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B1F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3 years, auto-renew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0162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B1F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Best Fit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B1F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Full ownership &amp; control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B1F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Predictable opex, zero ops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B07D45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Commercial co-beneficiary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B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8890000"/>
            <a:ext cx="16256000" cy="254000"/>
          </a:xfrm>
          <a:prstGeom prst="rect">
            <a:avLst/>
          </a:prstGeom>
          <a:solidFill>
            <a:srgbClr val="2D3142"/>
          </a:solidFill>
          <a:ln/>
        </p:spPr>
      </p:sp>
      <p:sp>
        <p:nvSpPr>
          <p:cNvPr id="7" name="Text 4"/>
          <p:cNvSpPr/>
          <p:nvPr/>
        </p:nvSpPr>
        <p:spPr>
          <a:xfrm>
            <a:off x="13335000" y="8940800"/>
            <a:ext cx="2540000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000" spc="100" kern="0" dirty="0">
                <a:solidFill>
                  <a:srgbClr val="FFFFFF">
                    <a:alpha val="53333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COMPARISON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25400"/>
          </a:xfrm>
          <a:prstGeom prst="rect">
            <a:avLst/>
          </a:prstGeom>
          <a:solidFill>
            <a:srgbClr val="B07D45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3810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spc="200" kern="0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WHO DOES WHAT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952500"/>
            <a:ext cx="508000" cy="25400"/>
          </a:xfrm>
          <a:prstGeom prst="rect">
            <a:avLst/>
          </a:prstGeom>
          <a:solidFill>
            <a:srgbClr val="B07D45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143000"/>
            <a:ext cx="635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spc="200" kern="0" dirty="0">
                <a:solidFill>
                  <a:srgbClr val="B07D4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PRODUCT PARTNER — ACROSS ALL MODELS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62000" y="1498600"/>
            <a:ext cx="14732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B1F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Architecture, code, deployment, security controls, AI providers and prompts, audit logging, document export pipelines, technical documentation, release management.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62000" y="2159000"/>
            <a:ext cx="14732000" cy="12700"/>
          </a:xfrm>
          <a:prstGeom prst="rect">
            <a:avLst/>
          </a:prstGeom>
          <a:solidFill>
            <a:srgbClr val="D5D0C8"/>
          </a:solidFill>
          <a:ln/>
        </p:spPr>
      </p:sp>
      <p:sp>
        <p:nvSpPr>
          <p:cNvPr id="8" name="Text 6"/>
          <p:cNvSpPr/>
          <p:nvPr/>
        </p:nvSpPr>
        <p:spPr>
          <a:xfrm>
            <a:off x="762000" y="2286000"/>
            <a:ext cx="635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spc="200" kern="0" dirty="0">
                <a:solidFill>
                  <a:srgbClr val="B07D4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KENORCARE — VARIES BY MODEL</a:t>
            </a:r>
            <a:endParaRPr lang="en-US" sz="16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2667000"/>
          <a:ext cx="14732000" cy="3937000"/>
        </p:xfrm>
        <a:graphic>
          <a:graphicData uri="http://schemas.openxmlformats.org/drawingml/2006/table">
            <a:tbl>
              <a:tblPr/>
              <a:tblGrid>
                <a:gridCol w="4124960"/>
                <a:gridCol w="3535680"/>
                <a:gridCol w="3535680"/>
                <a:gridCol w="3535680"/>
              </a:tblGrid>
              <a:tr h="433197"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Activity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14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One-Off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14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Monthly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14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B07D45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Partnership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142"/>
                    </a:solidFill>
                  </a:tcPr>
                </a:tc>
              </a:tr>
              <a:tr h="433197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B1F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Funding the build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B1F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Milestone payments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B1F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Setup + monthly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B07D45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None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B"/>
                    </a:solidFill>
                  </a:tcPr>
                </a:tc>
              </a:tr>
              <a:tr h="433197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B1F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Domain feedback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B1F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UAT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B1F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UAT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B1F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Required (Agmt 3.2)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3197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B1F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Workflow validation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B1F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UAT only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B1F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UAT + ongoing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B1F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Continuous (3.2)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B"/>
                    </a:solidFill>
                  </a:tcPr>
                </a:tc>
              </a:tr>
              <a:tr h="433197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B1F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Pilot participation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B1F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Optional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B1F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Optional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B07D45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Expected (3.2)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3197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B1F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Marketing &amp; intros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B1F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Not required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B1F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Not required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B07D45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Expected (3.2+8)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B"/>
                    </a:solidFill>
                  </a:tcPr>
                </a:tc>
              </a:tr>
              <a:tr h="433197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B1F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Admin user(s)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B1F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Required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B1F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Required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B1F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Required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3197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B1F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Monthly reviews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B1F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Not required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B1F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Optional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B07D45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Required (3.3)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B"/>
                    </a:solidFill>
                  </a:tcPr>
                </a:tc>
              </a:tr>
              <a:tr h="471421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B1F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Code ownership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B1F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KenorCare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B1F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Product Partner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B1F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Product Partner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762000" y="6794500"/>
            <a:ext cx="14732000" cy="12700"/>
          </a:xfrm>
          <a:prstGeom prst="rect">
            <a:avLst/>
          </a:prstGeom>
          <a:solidFill>
            <a:srgbClr val="D5D0C8"/>
          </a:solidFill>
          <a:ln/>
        </p:spPr>
      </p:sp>
      <p:sp>
        <p:nvSpPr>
          <p:cNvPr id="11" name="Text 8"/>
          <p:cNvSpPr/>
          <p:nvPr/>
        </p:nvSpPr>
        <p:spPr>
          <a:xfrm>
            <a:off x="762000" y="6959600"/>
            <a:ext cx="635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spc="200" kern="0" dirty="0">
                <a:solidFill>
                  <a:srgbClr val="B07D4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JOINT RESPONSIBILITIES — PARTNERSHIP ONLY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762000" y="7315200"/>
            <a:ext cx="14732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400" dirty="0">
                <a:solidFill>
                  <a:srgbClr val="1B1F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Meet at least once per month during active development or commercialization</a:t>
            </a:r>
            <a:endParaRPr lang="en-US" sz="1600" dirty="0"/>
          </a:p>
          <a:p>
            <a:pPr marL="254000" indent="-25400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400" dirty="0">
                <a:solidFill>
                  <a:srgbClr val="1B1F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Review roadmap priorities, pilot findings, market feedback, commercialization status</a:t>
            </a:r>
            <a:endParaRPr lang="en-US" sz="1600" dirty="0"/>
          </a:p>
          <a:p>
            <a:pPr marL="254000" indent="-25400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400" dirty="0">
                <a:solidFill>
                  <a:srgbClr val="1B1F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Act in good faith with commercially reasonable effort; escalate material concerns promptly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0" y="8890000"/>
            <a:ext cx="16256000" cy="254000"/>
          </a:xfrm>
          <a:prstGeom prst="rect">
            <a:avLst/>
          </a:prstGeom>
          <a:solidFill>
            <a:srgbClr val="2D3142"/>
          </a:solidFill>
          <a:ln/>
        </p:spPr>
      </p:sp>
      <p:sp>
        <p:nvSpPr>
          <p:cNvPr id="14" name="Text 11"/>
          <p:cNvSpPr/>
          <p:nvPr/>
        </p:nvSpPr>
        <p:spPr>
          <a:xfrm>
            <a:off x="13335000" y="8940800"/>
            <a:ext cx="2540000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000" spc="100" kern="0" dirty="0">
                <a:solidFill>
                  <a:srgbClr val="FFFFFF">
                    <a:alpha val="53333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RESPONSIBILITIES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25400"/>
          </a:xfrm>
          <a:prstGeom prst="rect">
            <a:avLst/>
          </a:prstGeom>
          <a:solidFill>
            <a:srgbClr val="B07D45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3810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spc="200" kern="0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4-MONTH BUILD TIMELINE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952500"/>
            <a:ext cx="508000" cy="25400"/>
          </a:xfrm>
          <a:prstGeom prst="rect">
            <a:avLst/>
          </a:prstGeom>
          <a:solidFill>
            <a:srgbClr val="B07D45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143000"/>
            <a:ext cx="635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spc="200" kern="0" dirty="0">
                <a:solidFill>
                  <a:srgbClr val="B07D4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BUILD PHASE — ALL THREE MODELS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651000" y="1968500"/>
            <a:ext cx="12954000" cy="38100"/>
          </a:xfrm>
          <a:prstGeom prst="rect">
            <a:avLst/>
          </a:prstGeom>
          <a:solidFill>
            <a:srgbClr val="B07D45"/>
          </a:solidFill>
          <a:ln/>
        </p:spPr>
      </p:sp>
      <p:sp>
        <p:nvSpPr>
          <p:cNvPr id="7" name="Shape 5"/>
          <p:cNvSpPr/>
          <p:nvPr/>
        </p:nvSpPr>
        <p:spPr>
          <a:xfrm>
            <a:off x="1549400" y="1866900"/>
            <a:ext cx="228600" cy="228600"/>
          </a:xfrm>
          <a:prstGeom prst="ellipse">
            <a:avLst/>
          </a:prstGeom>
          <a:solidFill>
            <a:srgbClr val="B07D45"/>
          </a:solidFill>
          <a:ln/>
        </p:spPr>
      </p:sp>
      <p:sp>
        <p:nvSpPr>
          <p:cNvPr id="8" name="Text 6"/>
          <p:cNvSpPr/>
          <p:nvPr/>
        </p:nvSpPr>
        <p:spPr>
          <a:xfrm>
            <a:off x="1016000" y="2222500"/>
            <a:ext cx="1524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MONTH 1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62000" y="2603500"/>
            <a:ext cx="3302000" cy="1651000"/>
          </a:xfrm>
          <a:prstGeom prst="rect">
            <a:avLst/>
          </a:prstGeom>
          <a:solidFill>
            <a:srgbClr val="EDEAE4"/>
          </a:solidFill>
          <a:ln/>
        </p:spPr>
      </p:sp>
      <p:sp>
        <p:nvSpPr>
          <p:cNvPr id="10" name="Text 8"/>
          <p:cNvSpPr/>
          <p:nvPr/>
        </p:nvSpPr>
        <p:spPr>
          <a:xfrm>
            <a:off x="952500" y="2692400"/>
            <a:ext cx="2921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B07D4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FOUNDATION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52500" y="3048000"/>
            <a:ext cx="29210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1B1F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Auth, roles &amp; permissions, system settings, residents module, care plans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851400" y="1866900"/>
            <a:ext cx="228600" cy="228600"/>
          </a:xfrm>
          <a:prstGeom prst="ellipse">
            <a:avLst/>
          </a:prstGeom>
          <a:solidFill>
            <a:srgbClr val="B07D45"/>
          </a:solidFill>
          <a:ln/>
        </p:spPr>
      </p:sp>
      <p:sp>
        <p:nvSpPr>
          <p:cNvPr id="13" name="Text 11"/>
          <p:cNvSpPr/>
          <p:nvPr/>
        </p:nvSpPr>
        <p:spPr>
          <a:xfrm>
            <a:off x="4318000" y="2222500"/>
            <a:ext cx="1524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MONTH 2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064000" y="2603500"/>
            <a:ext cx="3302000" cy="1651000"/>
          </a:xfrm>
          <a:prstGeom prst="rect">
            <a:avLst/>
          </a:prstGeom>
          <a:solidFill>
            <a:srgbClr val="EDEAE4"/>
          </a:solidFill>
          <a:ln/>
        </p:spPr>
      </p:sp>
      <p:sp>
        <p:nvSpPr>
          <p:cNvPr id="15" name="Text 13"/>
          <p:cNvSpPr/>
          <p:nvPr/>
        </p:nvSpPr>
        <p:spPr>
          <a:xfrm>
            <a:off x="4254500" y="2692400"/>
            <a:ext cx="2921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B07D4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CLINICAL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254500" y="3048000"/>
            <a:ext cx="29210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1B1F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Medications + administration, vitals, incidents, staff directory, shift scheduling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153400" y="1866900"/>
            <a:ext cx="228600" cy="228600"/>
          </a:xfrm>
          <a:prstGeom prst="ellipse">
            <a:avLst/>
          </a:prstGeom>
          <a:solidFill>
            <a:srgbClr val="B07D45"/>
          </a:solidFill>
          <a:ln/>
        </p:spPr>
      </p:sp>
      <p:sp>
        <p:nvSpPr>
          <p:cNvPr id="18" name="Text 16"/>
          <p:cNvSpPr/>
          <p:nvPr/>
        </p:nvSpPr>
        <p:spPr>
          <a:xfrm>
            <a:off x="7620000" y="2222500"/>
            <a:ext cx="1524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MONTH 3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366000" y="2603500"/>
            <a:ext cx="3302000" cy="1651000"/>
          </a:xfrm>
          <a:prstGeom prst="rect">
            <a:avLst/>
          </a:prstGeom>
          <a:solidFill>
            <a:srgbClr val="EDEAE4"/>
          </a:solidFill>
          <a:ln/>
        </p:spPr>
      </p:sp>
      <p:sp>
        <p:nvSpPr>
          <p:cNvPr id="20" name="Text 18"/>
          <p:cNvSpPr/>
          <p:nvPr/>
        </p:nvSpPr>
        <p:spPr>
          <a:xfrm>
            <a:off x="7556500" y="2692400"/>
            <a:ext cx="2921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B07D4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THERAPY &amp; AI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556500" y="3048000"/>
            <a:ext cx="29210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1B1F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Therapy module, mentorship platform, public CMS, AI integration, PDF/Word exports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11455400" y="1866900"/>
            <a:ext cx="228600" cy="228600"/>
          </a:xfrm>
          <a:prstGeom prst="ellipse">
            <a:avLst/>
          </a:prstGeom>
          <a:solidFill>
            <a:srgbClr val="B07D45"/>
          </a:solidFill>
          <a:ln/>
        </p:spPr>
      </p:sp>
      <p:sp>
        <p:nvSpPr>
          <p:cNvPr id="23" name="Text 21"/>
          <p:cNvSpPr/>
          <p:nvPr/>
        </p:nvSpPr>
        <p:spPr>
          <a:xfrm>
            <a:off x="10922000" y="2222500"/>
            <a:ext cx="1524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MONTH 4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10668000" y="2603500"/>
            <a:ext cx="3302000" cy="1651000"/>
          </a:xfrm>
          <a:prstGeom prst="rect">
            <a:avLst/>
          </a:prstGeom>
          <a:solidFill>
            <a:srgbClr val="2D3142"/>
          </a:solidFill>
          <a:ln/>
        </p:spPr>
      </p:sp>
      <p:sp>
        <p:nvSpPr>
          <p:cNvPr id="25" name="Text 23"/>
          <p:cNvSpPr/>
          <p:nvPr/>
        </p:nvSpPr>
        <p:spPr>
          <a:xfrm>
            <a:off x="10858500" y="2692400"/>
            <a:ext cx="2921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B07D4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GO-LIVE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0858500" y="3048000"/>
            <a:ext cx="29210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UAT, hardening, pilot inside KenorCare, production deployment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762000" y="4572000"/>
            <a:ext cx="14732000" cy="12700"/>
          </a:xfrm>
          <a:prstGeom prst="rect">
            <a:avLst/>
          </a:prstGeom>
          <a:solidFill>
            <a:srgbClr val="D5D0C8"/>
          </a:solidFill>
          <a:ln/>
        </p:spPr>
      </p:sp>
      <p:sp>
        <p:nvSpPr>
          <p:cNvPr id="28" name="Text 26"/>
          <p:cNvSpPr/>
          <p:nvPr/>
        </p:nvSpPr>
        <p:spPr>
          <a:xfrm>
            <a:off x="762000" y="4762500"/>
            <a:ext cx="635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spc="200" kern="0" dirty="0">
                <a:solidFill>
                  <a:srgbClr val="B07D4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PARTNERSHIP-SPECIFIC POST-LAUNCH</a:t>
            </a:r>
            <a:endParaRPr lang="en-US" sz="16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5143500"/>
          <a:ext cx="7620000" cy="2222500"/>
        </p:xfrm>
        <a:graphic>
          <a:graphicData uri="http://schemas.openxmlformats.org/drawingml/2006/table">
            <a:tbl>
              <a:tblPr/>
              <a:tblGrid>
                <a:gridCol w="2286000"/>
                <a:gridCol w="5334000"/>
              </a:tblGrid>
              <a:tr h="378835"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Time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14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Event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142"/>
                    </a:solidFill>
                  </a:tcPr>
                </a:tc>
              </a:tr>
              <a:tr h="378835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B1F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Month 5+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B1F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Pilot; first case studies and testimonials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B"/>
                    </a:solidFill>
                  </a:tcPr>
                </a:tc>
              </a:tr>
              <a:tr h="378835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B1F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Q end + 30 days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B1F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First revenue share statement issued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8835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B1F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Q end + 45 days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B1F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First payment due (if revenue exists)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B"/>
                    </a:solidFill>
                  </a:tcPr>
                </a:tc>
              </a:tr>
              <a:tr h="35358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B1F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Year 1 end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B1F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First annual review of partnership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358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B1F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Year 3 end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B1F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Initial term ends; auto-renews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B"/>
                    </a:solidFill>
                  </a:tcPr>
                </a:tc>
              </a:tr>
            </a:tbl>
          </a:graphicData>
        </a:graphic>
      </p:graphicFrame>
      <p:sp>
        <p:nvSpPr>
          <p:cNvPr id="30" name="Text 27"/>
          <p:cNvSpPr/>
          <p:nvPr/>
        </p:nvSpPr>
        <p:spPr>
          <a:xfrm>
            <a:off x="8890000" y="4762500"/>
            <a:ext cx="508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spc="200" kern="0" dirty="0">
                <a:solidFill>
                  <a:srgbClr val="B07D4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CRITICAL PATH DEPENDENCIES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8890000" y="5143500"/>
            <a:ext cx="6604000" cy="222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400" b="1" dirty="0">
                <a:solidFill>
                  <a:srgbClr val="1B1F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Month 1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400" dirty="0">
                <a:solidFill>
                  <a:srgbClr val="1B1F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Domain validation sessions unlock clinical form design in Month 2</a:t>
            </a:r>
            <a:endParaRPr lang="en-US" sz="1600" dirty="0"/>
          </a:p>
          <a:p>
            <a:pPr marL="254000" indent="-25400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400" b="1" dirty="0">
                <a:solidFill>
                  <a:srgbClr val="1B1F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Month 3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400" dirty="0">
                <a:solidFill>
                  <a:srgbClr val="1B1F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AI prompt review requires clinical sign-off before go-live</a:t>
            </a:r>
            <a:endParaRPr lang="en-US" sz="1600" dirty="0"/>
          </a:p>
          <a:p>
            <a:pPr marL="254000" indent="-25400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400" b="1" dirty="0">
                <a:solidFill>
                  <a:srgbClr val="1B1F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Month 4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400" dirty="0">
                <a:solidFill>
                  <a:srgbClr val="1B1F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Pilot requires KenorCare to designate operational test users</a:t>
            </a:r>
            <a:endParaRPr lang="en-US" sz="1600" dirty="0"/>
          </a:p>
        </p:txBody>
      </p:sp>
      <p:sp>
        <p:nvSpPr>
          <p:cNvPr id="32" name="Shape 29"/>
          <p:cNvSpPr/>
          <p:nvPr/>
        </p:nvSpPr>
        <p:spPr>
          <a:xfrm>
            <a:off x="0" y="8890000"/>
            <a:ext cx="16256000" cy="254000"/>
          </a:xfrm>
          <a:prstGeom prst="rect">
            <a:avLst/>
          </a:prstGeom>
          <a:solidFill>
            <a:srgbClr val="2D3142"/>
          </a:solidFill>
          <a:ln/>
        </p:spPr>
      </p:sp>
      <p:sp>
        <p:nvSpPr>
          <p:cNvPr id="33" name="Text 30"/>
          <p:cNvSpPr/>
          <p:nvPr/>
        </p:nvSpPr>
        <p:spPr>
          <a:xfrm>
            <a:off x="13335000" y="8940800"/>
            <a:ext cx="2540000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000" spc="100" kern="0" dirty="0">
                <a:solidFill>
                  <a:srgbClr val="FFFFFF">
                    <a:alpha val="53333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TIMELINE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25400"/>
          </a:xfrm>
          <a:prstGeom prst="rect">
            <a:avLst/>
          </a:prstGeom>
          <a:solidFill>
            <a:srgbClr val="B07D45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3810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spc="200" kern="0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RECOMMENDATION &amp; NEXT STEPS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952500"/>
            <a:ext cx="508000" cy="25400"/>
          </a:xfrm>
          <a:prstGeom prst="rect">
            <a:avLst/>
          </a:prstGeom>
          <a:solidFill>
            <a:srgbClr val="B07D45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206500"/>
            <a:ext cx="14732000" cy="1651000"/>
          </a:xfrm>
          <a:prstGeom prst="rect">
            <a:avLst/>
          </a:prstGeom>
          <a:solidFill>
            <a:srgbClr val="2D3142"/>
          </a:solidFill>
          <a:ln/>
        </p:spPr>
      </p:sp>
      <p:sp>
        <p:nvSpPr>
          <p:cNvPr id="6" name="Shape 4"/>
          <p:cNvSpPr/>
          <p:nvPr/>
        </p:nvSpPr>
        <p:spPr>
          <a:xfrm>
            <a:off x="1079500" y="1371600"/>
            <a:ext cx="2667000" cy="330200"/>
          </a:xfrm>
          <a:prstGeom prst="rect">
            <a:avLst/>
          </a:prstGeom>
          <a:solidFill>
            <a:srgbClr val="B07D45"/>
          </a:solidFill>
          <a:ln/>
        </p:spPr>
      </p:sp>
      <p:sp>
        <p:nvSpPr>
          <p:cNvPr id="7" name="Text 5"/>
          <p:cNvSpPr/>
          <p:nvPr/>
        </p:nvSpPr>
        <p:spPr>
          <a:xfrm>
            <a:off x="1079500" y="1371600"/>
            <a:ext cx="2667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spc="1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OUR RECOMMENDATION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79500" y="1841500"/>
            <a:ext cx="762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spc="2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STRATEGIC PARTNERSHIP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79500" y="2387600"/>
            <a:ext cx="8890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FFFFFF">
                    <a:alpha val="6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Minimizes cash exposure, recognizes clinical authority, creates aligned incentives.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62000" y="3111500"/>
            <a:ext cx="7112000" cy="209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400" b="1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Why not One-Off?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1B1F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Asks KenorCare to bear full build cost and all infrastructure burden — only if owning the code is the strategic goal.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1400" b="1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Why not Monthly?</a:t>
            </a:r>
            <a:pPr>
              <a:lnSpc>
                <a:spcPct val="160000"/>
              </a:lnSpc>
              <a:spcBef>
                <a:spcPts val="800"/>
              </a:spcBef>
            </a:pPr>
            <a:r>
              <a:rPr lang="en-US" sz="1400" dirty="0">
                <a:solidFill>
                  <a:srgbClr val="1B1F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Treats KenorCare as a customer, not a partner. Doesn't capture the marketing and credibility value KenorCare brings.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62000" y="5334000"/>
            <a:ext cx="7112000" cy="1270000"/>
          </a:xfrm>
          <a:prstGeom prst="rect">
            <a:avLst/>
          </a:prstGeom>
          <a:solidFill>
            <a:srgbClr val="EDEAE4"/>
          </a:solidFill>
          <a:ln/>
        </p:spPr>
      </p:sp>
      <p:sp>
        <p:nvSpPr>
          <p:cNvPr id="12" name="Text 10"/>
          <p:cNvSpPr/>
          <p:nvPr/>
        </p:nvSpPr>
        <p:spPr>
          <a:xfrm>
            <a:off x="1016000" y="54610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spc="200" kern="0" dirty="0">
                <a:solidFill>
                  <a:srgbClr val="B07D4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HYBRID OPTION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16000" y="5778500"/>
            <a:ext cx="6604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1B1F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Partnership + accelerator: KenorCare contributes $10K–$20K one-time for higher revenue share floor or early exclusivity. Open for discussion.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382000" y="3111500"/>
            <a:ext cx="508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spc="200" kern="0" dirty="0">
                <a:solidFill>
                  <a:srgbClr val="B07D4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CONCRETE NEXT STEPS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382000" y="3530600"/>
            <a:ext cx="45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00" dirty="0">
                <a:solidFill>
                  <a:srgbClr val="B07D4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953500" y="3530600"/>
            <a:ext cx="6350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rgbClr val="1B1F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Confirm preferred model in writing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1B1F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within 14 days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382000" y="4356100"/>
            <a:ext cx="45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00" dirty="0">
                <a:solidFill>
                  <a:srgbClr val="B07D4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953500" y="4356100"/>
            <a:ext cx="6350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rgbClr val="1B1F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Finalize agreement placeholders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1B1F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legal names, governing law, BAA, dispute venue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382000" y="5181600"/>
            <a:ext cx="45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00" dirty="0">
                <a:solidFill>
                  <a:srgbClr val="B07D4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953500" y="5181600"/>
            <a:ext cx="6350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rgbClr val="1B1F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Kickoff meeting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1B1F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within 14 days of signature; align Month 1 deliverables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382000" y="6007100"/>
            <a:ext cx="45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00" dirty="0">
                <a:solidFill>
                  <a:srgbClr val="B07D4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953500" y="6007100"/>
            <a:ext cx="6350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rgbClr val="1B1F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Build begins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1B1F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; first joint review at end of Month 1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62000" y="6921500"/>
            <a:ext cx="508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spc="200" kern="0" dirty="0">
                <a:solidFill>
                  <a:srgbClr val="B07D4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REFERENCE DOCUMENTS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762000" y="7302500"/>
            <a:ext cx="7112000" cy="635000"/>
          </a:xfrm>
          <a:prstGeom prst="rect">
            <a:avLst/>
          </a:prstGeom>
          <a:solidFill>
            <a:srgbClr val="EDEAE4"/>
          </a:solidFill>
          <a:ln/>
        </p:spPr>
      </p:sp>
      <p:sp>
        <p:nvSpPr>
          <p:cNvPr id="25" name="Shape 23"/>
          <p:cNvSpPr/>
          <p:nvPr/>
        </p:nvSpPr>
        <p:spPr>
          <a:xfrm>
            <a:off x="1025525" y="7467600"/>
            <a:ext cx="209550" cy="279400"/>
          </a:xfrm>
          <a:custGeom>
            <a:avLst/>
            <a:gdLst/>
            <a:ahLst/>
            <a:cxnLst/>
            <a:rect l="l" t="t" r="r" b="b"/>
            <a:pathLst>
              <a:path w="209550" h="279400">
                <a:moveTo>
                  <a:pt x="34925" y="26194"/>
                </a:moveTo>
                <a:lnTo>
                  <a:pt x="96044" y="26194"/>
                </a:lnTo>
                <a:lnTo>
                  <a:pt x="96044" y="74216"/>
                </a:lnTo>
                <a:cubicBezTo>
                  <a:pt x="96044" y="95935"/>
                  <a:pt x="113615" y="113506"/>
                  <a:pt x="135334" y="113506"/>
                </a:cubicBezTo>
                <a:lnTo>
                  <a:pt x="183356" y="113506"/>
                </a:lnTo>
                <a:lnTo>
                  <a:pt x="183356" y="244475"/>
                </a:lnTo>
                <a:cubicBezTo>
                  <a:pt x="183356" y="249277"/>
                  <a:pt x="179427" y="253206"/>
                  <a:pt x="174625" y="253206"/>
                </a:cubicBezTo>
                <a:lnTo>
                  <a:pt x="34925" y="253206"/>
                </a:lnTo>
                <a:cubicBezTo>
                  <a:pt x="30123" y="253206"/>
                  <a:pt x="26194" y="249277"/>
                  <a:pt x="26194" y="244475"/>
                </a:cubicBezTo>
                <a:lnTo>
                  <a:pt x="26194" y="34925"/>
                </a:lnTo>
                <a:cubicBezTo>
                  <a:pt x="26194" y="30123"/>
                  <a:pt x="30123" y="26194"/>
                  <a:pt x="34925" y="26194"/>
                </a:cubicBezTo>
                <a:close/>
                <a:moveTo>
                  <a:pt x="122238" y="37053"/>
                </a:moveTo>
                <a:lnTo>
                  <a:pt x="172497" y="87313"/>
                </a:lnTo>
                <a:lnTo>
                  <a:pt x="135334" y="87313"/>
                </a:lnTo>
                <a:cubicBezTo>
                  <a:pt x="128077" y="87313"/>
                  <a:pt x="122238" y="81473"/>
                  <a:pt x="122238" y="74216"/>
                </a:cubicBezTo>
                <a:lnTo>
                  <a:pt x="122238" y="37053"/>
                </a:lnTo>
                <a:close/>
                <a:moveTo>
                  <a:pt x="34925" y="0"/>
                </a:moveTo>
                <a:cubicBezTo>
                  <a:pt x="15662" y="0"/>
                  <a:pt x="0" y="15662"/>
                  <a:pt x="0" y="34925"/>
                </a:cubicBezTo>
                <a:lnTo>
                  <a:pt x="0" y="244475"/>
                </a:lnTo>
                <a:cubicBezTo>
                  <a:pt x="0" y="263738"/>
                  <a:pt x="15662" y="279400"/>
                  <a:pt x="34925" y="279400"/>
                </a:cubicBezTo>
                <a:lnTo>
                  <a:pt x="174625" y="279400"/>
                </a:lnTo>
                <a:cubicBezTo>
                  <a:pt x="193888" y="279400"/>
                  <a:pt x="209550" y="263738"/>
                  <a:pt x="209550" y="244475"/>
                </a:cubicBezTo>
                <a:lnTo>
                  <a:pt x="209550" y="101774"/>
                </a:lnTo>
                <a:cubicBezTo>
                  <a:pt x="209550" y="92497"/>
                  <a:pt x="205894" y="83602"/>
                  <a:pt x="199345" y="77053"/>
                </a:cubicBezTo>
                <a:lnTo>
                  <a:pt x="132442" y="10205"/>
                </a:lnTo>
                <a:cubicBezTo>
                  <a:pt x="125894" y="3656"/>
                  <a:pt x="117053" y="0"/>
                  <a:pt x="107776" y="0"/>
                </a:cubicBezTo>
                <a:lnTo>
                  <a:pt x="34925" y="0"/>
                </a:lnTo>
                <a:close/>
                <a:moveTo>
                  <a:pt x="65484" y="139700"/>
                </a:moveTo>
                <a:cubicBezTo>
                  <a:pt x="58227" y="139700"/>
                  <a:pt x="52388" y="145539"/>
                  <a:pt x="52388" y="152797"/>
                </a:cubicBezTo>
                <a:cubicBezTo>
                  <a:pt x="52388" y="160055"/>
                  <a:pt x="58227" y="165894"/>
                  <a:pt x="65484" y="165894"/>
                </a:cubicBezTo>
                <a:lnTo>
                  <a:pt x="144066" y="165894"/>
                </a:lnTo>
                <a:cubicBezTo>
                  <a:pt x="151323" y="165894"/>
                  <a:pt x="157163" y="160055"/>
                  <a:pt x="157163" y="152797"/>
                </a:cubicBezTo>
                <a:cubicBezTo>
                  <a:pt x="157163" y="145539"/>
                  <a:pt x="151323" y="139700"/>
                  <a:pt x="144066" y="139700"/>
                </a:cubicBezTo>
                <a:lnTo>
                  <a:pt x="65484" y="139700"/>
                </a:lnTo>
                <a:close/>
                <a:moveTo>
                  <a:pt x="65484" y="192088"/>
                </a:moveTo>
                <a:cubicBezTo>
                  <a:pt x="58227" y="192088"/>
                  <a:pt x="52388" y="197927"/>
                  <a:pt x="52388" y="205184"/>
                </a:cubicBezTo>
                <a:cubicBezTo>
                  <a:pt x="52388" y="212442"/>
                  <a:pt x="58227" y="218281"/>
                  <a:pt x="65484" y="218281"/>
                </a:cubicBezTo>
                <a:lnTo>
                  <a:pt x="144066" y="218281"/>
                </a:lnTo>
                <a:cubicBezTo>
                  <a:pt x="151323" y="218281"/>
                  <a:pt x="157163" y="212442"/>
                  <a:pt x="157163" y="205184"/>
                </a:cubicBezTo>
                <a:cubicBezTo>
                  <a:pt x="157163" y="197927"/>
                  <a:pt x="151323" y="192088"/>
                  <a:pt x="144066" y="192088"/>
                </a:cubicBezTo>
                <a:lnTo>
                  <a:pt x="65484" y="192088"/>
                </a:lnTo>
                <a:close/>
              </a:path>
            </a:pathLst>
          </a:custGeom>
          <a:solidFill>
            <a:srgbClr val="B07D45"/>
          </a:solidFill>
          <a:ln/>
        </p:spPr>
      </p:sp>
      <p:sp>
        <p:nvSpPr>
          <p:cNvPr id="26" name="Text 24"/>
          <p:cNvSpPr/>
          <p:nvPr/>
        </p:nvSpPr>
        <p:spPr>
          <a:xfrm>
            <a:off x="1397000" y="7366000"/>
            <a:ext cx="6223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00" b="1" dirty="0">
                <a:solidFill>
                  <a:srgbClr val="1B1F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carenest-tor.md</a:t>
            </a:r>
            <a:pPr>
              <a:lnSpc>
                <a:spcPct val="140000"/>
              </a:lnSpc>
            </a:pPr>
            <a:r>
              <a:rPr lang="en-US" sz="1300" dirty="0">
                <a:solidFill>
                  <a:srgbClr val="1B1F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Full system scope and acceptance criteria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762000" y="8064500"/>
            <a:ext cx="7112000" cy="698500"/>
          </a:xfrm>
          <a:prstGeom prst="rect">
            <a:avLst/>
          </a:prstGeom>
          <a:solidFill>
            <a:srgbClr val="EDEAE4"/>
          </a:solidFill>
          <a:ln/>
        </p:spPr>
      </p:sp>
      <p:sp>
        <p:nvSpPr>
          <p:cNvPr id="28" name="Shape 26"/>
          <p:cNvSpPr/>
          <p:nvPr/>
        </p:nvSpPr>
        <p:spPr>
          <a:xfrm>
            <a:off x="1025525" y="8229600"/>
            <a:ext cx="209550" cy="279400"/>
          </a:xfrm>
          <a:custGeom>
            <a:avLst/>
            <a:gdLst/>
            <a:ahLst/>
            <a:cxnLst/>
            <a:rect l="l" t="t" r="r" b="b"/>
            <a:pathLst>
              <a:path w="209550" h="279400">
                <a:moveTo>
                  <a:pt x="34925" y="26194"/>
                </a:moveTo>
                <a:lnTo>
                  <a:pt x="96044" y="26194"/>
                </a:lnTo>
                <a:lnTo>
                  <a:pt x="96044" y="74216"/>
                </a:lnTo>
                <a:cubicBezTo>
                  <a:pt x="96044" y="95935"/>
                  <a:pt x="113615" y="113506"/>
                  <a:pt x="135334" y="113506"/>
                </a:cubicBezTo>
                <a:lnTo>
                  <a:pt x="183356" y="113506"/>
                </a:lnTo>
                <a:lnTo>
                  <a:pt x="183356" y="244475"/>
                </a:lnTo>
                <a:cubicBezTo>
                  <a:pt x="183356" y="249277"/>
                  <a:pt x="179427" y="253206"/>
                  <a:pt x="174625" y="253206"/>
                </a:cubicBezTo>
                <a:lnTo>
                  <a:pt x="34925" y="253206"/>
                </a:lnTo>
                <a:cubicBezTo>
                  <a:pt x="30123" y="253206"/>
                  <a:pt x="26194" y="249277"/>
                  <a:pt x="26194" y="244475"/>
                </a:cubicBezTo>
                <a:lnTo>
                  <a:pt x="26194" y="34925"/>
                </a:lnTo>
                <a:cubicBezTo>
                  <a:pt x="26194" y="30123"/>
                  <a:pt x="30123" y="26194"/>
                  <a:pt x="34925" y="26194"/>
                </a:cubicBezTo>
                <a:close/>
                <a:moveTo>
                  <a:pt x="122238" y="37053"/>
                </a:moveTo>
                <a:lnTo>
                  <a:pt x="172497" y="87313"/>
                </a:lnTo>
                <a:lnTo>
                  <a:pt x="135334" y="87313"/>
                </a:lnTo>
                <a:cubicBezTo>
                  <a:pt x="128077" y="87313"/>
                  <a:pt x="122238" y="81473"/>
                  <a:pt x="122238" y="74216"/>
                </a:cubicBezTo>
                <a:lnTo>
                  <a:pt x="122238" y="37053"/>
                </a:lnTo>
                <a:close/>
                <a:moveTo>
                  <a:pt x="34925" y="0"/>
                </a:moveTo>
                <a:cubicBezTo>
                  <a:pt x="15662" y="0"/>
                  <a:pt x="0" y="15662"/>
                  <a:pt x="0" y="34925"/>
                </a:cubicBezTo>
                <a:lnTo>
                  <a:pt x="0" y="244475"/>
                </a:lnTo>
                <a:cubicBezTo>
                  <a:pt x="0" y="263738"/>
                  <a:pt x="15662" y="279400"/>
                  <a:pt x="34925" y="279400"/>
                </a:cubicBezTo>
                <a:lnTo>
                  <a:pt x="174625" y="279400"/>
                </a:lnTo>
                <a:cubicBezTo>
                  <a:pt x="193888" y="279400"/>
                  <a:pt x="209550" y="263738"/>
                  <a:pt x="209550" y="244475"/>
                </a:cubicBezTo>
                <a:lnTo>
                  <a:pt x="209550" y="101774"/>
                </a:lnTo>
                <a:cubicBezTo>
                  <a:pt x="209550" y="92497"/>
                  <a:pt x="205894" y="83602"/>
                  <a:pt x="199345" y="77053"/>
                </a:cubicBezTo>
                <a:lnTo>
                  <a:pt x="132442" y="10205"/>
                </a:lnTo>
                <a:cubicBezTo>
                  <a:pt x="125894" y="3656"/>
                  <a:pt x="117053" y="0"/>
                  <a:pt x="107776" y="0"/>
                </a:cubicBezTo>
                <a:lnTo>
                  <a:pt x="34925" y="0"/>
                </a:lnTo>
                <a:close/>
                <a:moveTo>
                  <a:pt x="65484" y="139700"/>
                </a:moveTo>
                <a:cubicBezTo>
                  <a:pt x="58227" y="139700"/>
                  <a:pt x="52388" y="145539"/>
                  <a:pt x="52388" y="152797"/>
                </a:cubicBezTo>
                <a:cubicBezTo>
                  <a:pt x="52388" y="160055"/>
                  <a:pt x="58227" y="165894"/>
                  <a:pt x="65484" y="165894"/>
                </a:cubicBezTo>
                <a:lnTo>
                  <a:pt x="144066" y="165894"/>
                </a:lnTo>
                <a:cubicBezTo>
                  <a:pt x="151323" y="165894"/>
                  <a:pt x="157163" y="160055"/>
                  <a:pt x="157163" y="152797"/>
                </a:cubicBezTo>
                <a:cubicBezTo>
                  <a:pt x="157163" y="145539"/>
                  <a:pt x="151323" y="139700"/>
                  <a:pt x="144066" y="139700"/>
                </a:cubicBezTo>
                <a:lnTo>
                  <a:pt x="65484" y="139700"/>
                </a:lnTo>
                <a:close/>
                <a:moveTo>
                  <a:pt x="65484" y="192088"/>
                </a:moveTo>
                <a:cubicBezTo>
                  <a:pt x="58227" y="192088"/>
                  <a:pt x="52388" y="197927"/>
                  <a:pt x="52388" y="205184"/>
                </a:cubicBezTo>
                <a:cubicBezTo>
                  <a:pt x="52388" y="212442"/>
                  <a:pt x="58227" y="218281"/>
                  <a:pt x="65484" y="218281"/>
                </a:cubicBezTo>
                <a:lnTo>
                  <a:pt x="144066" y="218281"/>
                </a:lnTo>
                <a:cubicBezTo>
                  <a:pt x="151323" y="218281"/>
                  <a:pt x="157163" y="212442"/>
                  <a:pt x="157163" y="205184"/>
                </a:cubicBezTo>
                <a:cubicBezTo>
                  <a:pt x="157163" y="197927"/>
                  <a:pt x="151323" y="192088"/>
                  <a:pt x="144066" y="192088"/>
                </a:cubicBezTo>
                <a:lnTo>
                  <a:pt x="65484" y="192088"/>
                </a:lnTo>
                <a:close/>
              </a:path>
            </a:pathLst>
          </a:custGeom>
          <a:solidFill>
            <a:srgbClr val="B07D45"/>
          </a:solidFill>
          <a:ln/>
        </p:spPr>
      </p:sp>
      <p:sp>
        <p:nvSpPr>
          <p:cNvPr id="29" name="Text 27"/>
          <p:cNvSpPr/>
          <p:nvPr/>
        </p:nvSpPr>
        <p:spPr>
          <a:xfrm>
            <a:off x="1397000" y="8064500"/>
            <a:ext cx="6223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00" b="1" dirty="0">
                <a:solidFill>
                  <a:srgbClr val="1B1F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kenorcare-partnership-agreement.md</a:t>
            </a:r>
            <a:pPr>
              <a:lnSpc>
                <a:spcPct val="140000"/>
              </a:lnSpc>
            </a:pPr>
            <a:r>
              <a:rPr lang="en-US" sz="1300" dirty="0">
                <a:solidFill>
                  <a:srgbClr val="1B1F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Full terms, IP, confidentiality, revenue share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0" y="8890000"/>
            <a:ext cx="16256000" cy="254000"/>
          </a:xfrm>
          <a:prstGeom prst="rect">
            <a:avLst/>
          </a:prstGeom>
          <a:solidFill>
            <a:srgbClr val="2D3142"/>
          </a:solidFill>
          <a:ln/>
        </p:spPr>
      </p:sp>
      <p:sp>
        <p:nvSpPr>
          <p:cNvPr id="31" name="Text 29"/>
          <p:cNvSpPr/>
          <p:nvPr/>
        </p:nvSpPr>
        <p:spPr>
          <a:xfrm>
            <a:off x="13335000" y="8940800"/>
            <a:ext cx="2540000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000" spc="100" kern="0" dirty="0">
                <a:solidFill>
                  <a:srgbClr val="FFFFFF">
                    <a:alpha val="53333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RECOMMENDATION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454iqn33ypamo/mnt/agents/output/carenest-engagement/images/8_271_Colorful_Sunset_Reflection_Modern.png">    </p:cNvPr>
          <p:cNvPicPr>
            <a:picLocks noChangeAspect="1"/>
          </p:cNvPicPr>
          <p:nvPr/>
        </p:nvPicPr>
        <p:blipFill>
          <a:blip r:embed="rId1"/>
          <a:srcRect l="0" r="0" t="7786" b="7786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1B1F2A">
                  <a:alpha val="60000"/>
                </a:srgbClr>
              </a:gs>
              <a:gs pos="40000">
                <a:srgbClr val="1B1F2A">
                  <a:alpha val="80000"/>
                </a:srgbClr>
              </a:gs>
              <a:gs pos="100000">
                <a:srgbClr val="1B1F2A">
                  <a:alpha val="90000"/>
                </a:srgbClr>
              </a:gs>
            </a:gsLst>
            <a:lin ang="540000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6858000" y="2921000"/>
            <a:ext cx="2540000" cy="38100"/>
          </a:xfrm>
          <a:prstGeom prst="rect">
            <a:avLst/>
          </a:prstGeom>
          <a:solidFill>
            <a:srgbClr val="B07D45"/>
          </a:solidFill>
          <a:ln/>
        </p:spPr>
      </p:sp>
      <p:sp>
        <p:nvSpPr>
          <p:cNvPr id="5" name="Text 2"/>
          <p:cNvSpPr/>
          <p:nvPr/>
        </p:nvSpPr>
        <p:spPr>
          <a:xfrm>
            <a:off x="2413000" y="3175000"/>
            <a:ext cx="1143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400" spc="3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LET'S BUILD CARENEST TOGETHER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683000" y="4127500"/>
            <a:ext cx="889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00" spc="200" kern="0" dirty="0">
                <a:solidFill>
                  <a:srgbClr val="B07D4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STRATEGIC PARTNERSHIP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683000" y="4699000"/>
            <a:ext cx="889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Zero upfront · Shared upside · Aligned for success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858000" y="5334000"/>
            <a:ext cx="2540000" cy="38100"/>
          </a:xfrm>
          <a:prstGeom prst="rect">
            <a:avLst/>
          </a:prstGeom>
          <a:solidFill>
            <a:srgbClr val="B07D45"/>
          </a:solidFill>
          <a:ln/>
        </p:spPr>
      </p:sp>
      <p:sp>
        <p:nvSpPr>
          <p:cNvPr id="9" name="Text 6"/>
          <p:cNvSpPr/>
          <p:nvPr/>
        </p:nvSpPr>
        <p:spPr>
          <a:xfrm>
            <a:off x="4318000" y="5651500"/>
            <a:ext cx="762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FFFFF">
                    <a:alpha val="6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Confirm preferred model within 14 days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4318000" y="6350000"/>
            <a:ext cx="762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400" dirty="0">
                <a:solidFill>
                  <a:srgbClr val="FFFFFF">
                    <a:alpha val="4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CareNest Product Partner | May 2026</a:t>
            </a:r>
            <a:endParaRPr lang="en-US" sz="1600" dirty="0"/>
          </a:p>
          <a:p>
            <a:pPr algn="ctr">
              <a:lnSpc>
                <a:spcPct val="150000"/>
              </a:lnSpc>
            </a:pPr>
            <a:r>
              <a:rPr lang="en-US" sz="1400" dirty="0">
                <a:solidFill>
                  <a:srgbClr val="FFFFFF">
                    <a:alpha val="4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docs/carenest-tor.md | docs/kenorcare-partnership-agreement.md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CareNest — Engagement Model Proposal for KenorCare</dc:title>
  <dc:subject>CareNest — Engagement Model Proposal for KenorCare</dc:subject>
  <dc:creator>Kimi</dc:creator>
  <cp:lastModifiedBy>Kimi</cp:lastModifiedBy>
  <cp:revision>1</cp:revision>
  <dcterms:created xsi:type="dcterms:W3CDTF">2026-05-10T15:27:36Z</dcterms:created>
  <dcterms:modified xsi:type="dcterms:W3CDTF">2026-05-10T15:27:36Z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{"Label":"CareNest — Engagement Model Proposal for KenorCare","ContentProducer":"001191110108MACG2KBH8F10000","ProduceID":"19e126da-d222-8733-8000-000010a8c7f8","ReservedCode1":"","ContentPropagator":"001191110108MACG2KBH8F20000","PropagateID":"19e126da-d222-8733-8000-000010a8c7f8","ReservedCode2":""}</vt:lpwstr>
  </property>
</Properties>
</file>